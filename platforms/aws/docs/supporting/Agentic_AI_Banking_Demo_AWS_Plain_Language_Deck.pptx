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85800"/>
            <a:ext cx="118872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106984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rimo"/>
              </a:defRPr>
            </a:pPr>
            <a:r>
              <a:t>Agentic AI can increase employee capacity</a:t>
            </a:r>
            <a:br/>
            <a:r>
              <a:t>without removing human accountability.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342900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DAE0E8"/>
                </a:solidFill>
                <a:latin typeface="Arimo"/>
              </a:defRPr>
            </a:pPr>
            <a:r>
              <a:t>AWS-native banking proof of concept using Amazon Bedrock, Aurora PostgreSQL + pgvector, deterministic authorization, human approval, and auditability.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4983480"/>
            <a:ext cx="1965960" cy="34747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992624"/>
            <a:ext cx="1965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4983480"/>
            <a:ext cx="2011680" cy="347472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4992624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AURORA + PGVECTOR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4983480"/>
            <a:ext cx="1554480" cy="347472"/>
          </a:xfrm>
          <a:prstGeom prst="roundRect">
            <a:avLst/>
          </a:prstGeom>
          <a:solidFill>
            <a:srgbClr val="20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4992624"/>
            <a:ext cx="1554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HUMAN IN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4983480"/>
            <a:ext cx="1371600" cy="347472"/>
          </a:xfrm>
          <a:prstGeom prst="roundRect">
            <a:avLst/>
          </a:prstGeom>
          <a:solidFill>
            <a:srgbClr val="486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4992624"/>
            <a:ext cx="1371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AUDITABLE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7BFC9"/>
                </a:solidFill>
                <a:latin typeface="Arimo"/>
              </a:defRPr>
            </a:pPr>
            <a:r>
              <a:t>Steve Montgomerie | Secure Agentic AI Banking Demo - AWS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The problem: a declined-card call becomes a systems hunt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employee has the customer on the phone, but the evidence is scattered.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194560" cy="11430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949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01952"/>
            <a:ext cx="1975104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Transaction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happened?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194560" cy="11430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949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1901952"/>
            <a:ext cx="1975104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Account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Is the account active?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28800"/>
            <a:ext cx="2194560" cy="11430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949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901952"/>
            <a:ext cx="1975104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Fraud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can this role see?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828800"/>
            <a:ext cx="2194560" cy="114300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949E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08007" y="1901952"/>
            <a:ext cx="1975104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Policy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is the permitted next step?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83080" y="3154680"/>
            <a:ext cx="8275320" cy="0"/>
          </a:xfrm>
          <a:prstGeom prst="line">
            <a:avLst/>
          </a:prstGeom>
          <a:ln w="12700">
            <a:solidFill>
              <a:srgbClr val="A0A8B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68680" y="370332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61E29"/>
                </a:solidFill>
                <a:latin typeface="Arimo"/>
              </a:defRPr>
            </a:pPr>
            <a:r>
              <a:t>Employees manually reconcile facts across multiple systems.</a:t>
            </a:r>
          </a:p>
          <a:p>
            <a:pPr>
              <a:spcAft>
                <a:spcPts val="600"/>
              </a:spcAft>
              <a:defRPr sz="1700">
                <a:solidFill>
                  <a:srgbClr val="161E29"/>
                </a:solidFill>
                <a:latin typeface="Arimo"/>
              </a:defRPr>
            </a:pPr>
            <a:r>
              <a:t>Sensitive fraud details must stay hidden from roles that are not authorized.</a:t>
            </a:r>
          </a:p>
          <a:p>
            <a:pPr>
              <a:spcAft>
                <a:spcPts val="600"/>
              </a:spcAft>
              <a:defRPr sz="1700">
                <a:solidFill>
                  <a:srgbClr val="161E29"/>
                </a:solidFill>
                <a:latin typeface="Arimo"/>
              </a:defRPr>
            </a:pPr>
            <a:r>
              <a:t>Policy interpretation can vary under time pressure.</a:t>
            </a:r>
          </a:p>
          <a:p>
            <a:pPr>
              <a:spcAft>
                <a:spcPts val="600"/>
              </a:spcAft>
              <a:defRPr sz="1700">
                <a:solidFill>
                  <a:srgbClr val="161E29"/>
                </a:solidFill>
                <a:latin typeface="Arimo"/>
              </a:defRPr>
            </a:pPr>
            <a:r>
              <a:t>The organization still needs an auditable human decision for consequential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What changes with the AWS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agent gathers evidence and policy; the employee keeps decision authority.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Retrieve facts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Aurora SQL</a:t>
            </a:r>
          </a:p>
        </p:txBody>
      </p:sp>
      <p:sp>
        <p:nvSpPr>
          <p:cNvPr id="8" name="Oval 7"/>
          <p:cNvSpPr/>
          <p:nvPr/>
        </p:nvSpPr>
        <p:spPr>
          <a:xfrm>
            <a:off x="1124712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24712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2888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Apply role filter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Deterministic code</a:t>
            </a:r>
          </a:p>
        </p:txBody>
      </p:sp>
      <p:sp>
        <p:nvSpPr>
          <p:cNvPr id="12" name="Oval 11"/>
          <p:cNvSpPr/>
          <p:nvPr/>
        </p:nvSpPr>
        <p:spPr>
          <a:xfrm>
            <a:off x="3044952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Retrieve policy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pgvector RAG</a:t>
            </a:r>
          </a:p>
        </p:txBody>
      </p:sp>
      <p:sp>
        <p:nvSpPr>
          <p:cNvPr id="16" name="Oval 15"/>
          <p:cNvSpPr/>
          <p:nvPr/>
        </p:nvSpPr>
        <p:spPr>
          <a:xfrm>
            <a:off x="4965192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65192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Synthesize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Amazon Bedrock</a:t>
            </a:r>
          </a:p>
        </p:txBody>
      </p:sp>
      <p:sp>
        <p:nvSpPr>
          <p:cNvPr id="20" name="Oval 19"/>
          <p:cNvSpPr/>
          <p:nvPr/>
        </p:nvSpPr>
        <p:spPr>
          <a:xfrm>
            <a:off x="6885431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85431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93607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Propose action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PENDING only</a:t>
            </a:r>
          </a:p>
        </p:txBody>
      </p:sp>
      <p:sp>
        <p:nvSpPr>
          <p:cNvPr id="24" name="Oval 23"/>
          <p:cNvSpPr/>
          <p:nvPr/>
        </p:nvSpPr>
        <p:spPr>
          <a:xfrm>
            <a:off x="8805672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05672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19" y="1828800"/>
            <a:ext cx="178308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13847" y="1901952"/>
            <a:ext cx="1563624" cy="12252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Human review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APPROVE / REJECT</a:t>
            </a:r>
          </a:p>
        </p:txBody>
      </p:sp>
      <p:sp>
        <p:nvSpPr>
          <p:cNvPr id="28" name="Oval 27"/>
          <p:cNvSpPr/>
          <p:nvPr/>
        </p:nvSpPr>
        <p:spPr>
          <a:xfrm>
            <a:off x="10725911" y="1417320"/>
            <a:ext cx="457200" cy="457200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25911" y="1472184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232F3E"/>
                </a:solidFill>
                <a:latin typeface="Arimo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886200"/>
            <a:ext cx="10058400" cy="1188720"/>
          </a:xfrm>
          <a:prstGeom prst="roundRect">
            <a:avLst/>
          </a:prstGeom>
          <a:solidFill>
            <a:srgbClr val="FFF4E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4114800"/>
            <a:ext cx="96012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Key design principle: the model is downstream of authorization. It cannot disclose fields or policy rows that were never placed in its context.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AWS reference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Small enough for a demo; structured so the governance pattern survives productionization.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423160"/>
            <a:ext cx="150876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496312"/>
            <a:ext cx="1289304" cy="8138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Employee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Goal + human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103120"/>
            <a:ext cx="196596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176272"/>
            <a:ext cx="1746504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Python Agent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EC2 / ECS / local</a:t>
            </a:r>
            <a:br/>
            <a:r>
              <a:t>IAM-authenticated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1143000"/>
            <a:ext cx="233172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216152"/>
            <a:ext cx="2112263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Aurora PostgreSQL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facts + action state + audit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3474720"/>
            <a:ext cx="233172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3547872"/>
            <a:ext cx="2112263" cy="12710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pgvector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role-filtered policy similarity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103120"/>
            <a:ext cx="233172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9367" y="2176272"/>
            <a:ext cx="2112263" cy="14081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Titan embeddings</a:t>
            </a:r>
            <a:br/>
            <a:r>
              <a:t>Nova generation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057400" y="2880360"/>
            <a:ext cx="68580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4709160" y="1828800"/>
            <a:ext cx="777240" cy="68580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09160" y="3063240"/>
            <a:ext cx="777240" cy="109728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18120" y="1828800"/>
            <a:ext cx="731520" cy="77724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18120" y="3246120"/>
            <a:ext cx="731520" cy="91440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2057400" y="3337560"/>
            <a:ext cx="2651760" cy="45720"/>
          </a:xfrm>
          <a:prstGeom prst="line">
            <a:avLst/>
          </a:prstGeom>
          <a:ln w="25400">
            <a:solidFill>
              <a:srgbClr val="20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331720" y="5257800"/>
            <a:ext cx="1828800" cy="347472"/>
          </a:xfrm>
          <a:prstGeom prst="roundRect">
            <a:avLst/>
          </a:prstGeom>
          <a:solidFill>
            <a:srgbClr val="415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526694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IAM ROLE / SSM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5257800"/>
            <a:ext cx="1920240" cy="347472"/>
          </a:xfrm>
          <a:prstGeom prst="roundRect">
            <a:avLst/>
          </a:prstGeom>
          <a:solidFill>
            <a:srgbClr val="415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43400" y="5266944"/>
            <a:ext cx="1920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SECRETS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5257800"/>
            <a:ext cx="1554480" cy="347472"/>
          </a:xfrm>
          <a:prstGeom prst="roundRect">
            <a:avLst/>
          </a:prstGeom>
          <a:solidFill>
            <a:srgbClr val="415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5266944"/>
            <a:ext cx="1554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TLS / VPC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79" y="5257800"/>
            <a:ext cx="2011680" cy="347472"/>
          </a:xfrm>
          <a:prstGeom prst="roundRect">
            <a:avLst/>
          </a:prstGeom>
          <a:solidFill>
            <a:srgbClr val="4154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83879" y="5266944"/>
            <a:ext cx="20116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CLOUDWATCH READY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The security boundary is outside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Prompt instructions are useful; deterministic authorization is stronger.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148840"/>
            <a:ext cx="134416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1208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Employee role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55648" y="2724912"/>
            <a:ext cx="137160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874520" y="2148840"/>
            <a:ext cx="134416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84248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Authorized SQL fields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18688" y="2724912"/>
            <a:ext cx="137160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37560" y="2148840"/>
            <a:ext cx="134416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Authorized policy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81728" y="2724912"/>
            <a:ext cx="137160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00600" y="2148840"/>
            <a:ext cx="134416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0328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Minimum context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144768" y="2724912"/>
            <a:ext cx="137160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263640" y="2148840"/>
            <a:ext cx="1344168" cy="114300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Bedrock reasoning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07808" y="2724912"/>
            <a:ext cx="137159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726679" y="2148840"/>
            <a:ext cx="1344168" cy="1143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6407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PENDING action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070848" y="2724912"/>
            <a:ext cx="137160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89719" y="2148840"/>
            <a:ext cx="1344168" cy="1143000"/>
          </a:xfrm>
          <a:prstGeom prst="roundRect">
            <a:avLst/>
          </a:prstGeom>
          <a:solidFill>
            <a:srgbClr val="E7F7E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99447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Human decision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533888" y="2724912"/>
            <a:ext cx="137159" cy="0"/>
          </a:xfrm>
          <a:prstGeom prst="line">
            <a:avLst/>
          </a:prstGeom>
          <a:ln w="1905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0652759" y="2148840"/>
            <a:ext cx="1344168" cy="1143000"/>
          </a:xfrm>
          <a:prstGeom prst="roundRect">
            <a:avLst/>
          </a:prstGeom>
          <a:solidFill>
            <a:srgbClr val="E7F7E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62487" y="2221992"/>
            <a:ext cx="1124712" cy="996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50" b="1">
                <a:solidFill>
                  <a:srgbClr val="232F3E"/>
                </a:solidFill>
                <a:latin typeface="Arimo"/>
              </a:defRPr>
            </a:pPr>
            <a:r>
              <a:t>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3886200"/>
            <a:ext cx="102412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161E29"/>
                </a:solidFill>
                <a:latin typeface="Arimo"/>
              </a:defRPr>
            </a:pPr>
            <a:r>
              <a:t>CUSTOMER_SERVICE never receives fraud_score or internal_notes.</a:t>
            </a:r>
          </a:p>
          <a:p>
            <a:pPr>
              <a:spcAft>
                <a:spcPts val="600"/>
              </a:spcAft>
              <a:defRPr sz="1650">
                <a:solidFill>
                  <a:srgbClr val="161E29"/>
                </a:solidFill>
                <a:latin typeface="Arimo"/>
              </a:defRPr>
            </a:pPr>
            <a:r>
              <a:t>Restricted policy FR-09 is filtered before semantic ranking.</a:t>
            </a:r>
          </a:p>
          <a:p>
            <a:pPr>
              <a:spcAft>
                <a:spcPts val="600"/>
              </a:spcAft>
              <a:defRPr sz="1650">
                <a:solidFill>
                  <a:srgbClr val="161E29"/>
                </a:solidFill>
                <a:latin typeface="Arimo"/>
              </a:defRPr>
            </a:pPr>
            <a:r>
              <a:t>The model can recommend; it cannot approve or execute the retry.</a:t>
            </a:r>
          </a:p>
          <a:p>
            <a:pPr>
              <a:spcAft>
                <a:spcPts val="600"/>
              </a:spcAft>
              <a:defRPr sz="1650">
                <a:solidFill>
                  <a:srgbClr val="161E29"/>
                </a:solidFill>
                <a:latin typeface="Arimo"/>
              </a:defRPr>
            </a:pPr>
            <a:r>
              <a:t>AI and human decisions are recorded as separate audit events.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Example: the $1,250 declined-card investigation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Synthetic transaction 847291 - customer service role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971800" cy="338328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627632"/>
            <a:ext cx="2752344" cy="3236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Authorized evidence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Transaction: $1,250 at Best Buy</a:t>
            </a:r>
            <a:br/>
            <a:r>
              <a:t>Account: ACTIVE</a:t>
            </a:r>
            <a:br/>
            <a:r>
              <a:t>Available balance: $4,250</a:t>
            </a:r>
            <a:br/>
            <a:r>
              <a:t>Fraud: unusual-spending safe description</a:t>
            </a:r>
            <a:br/>
            <a:r>
              <a:t>Policy: CV-04 + CA-12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57400"/>
            <a:ext cx="3017520" cy="237744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2130552"/>
            <a:ext cx="2798063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Synthesizes only the supplied facts and authorized policy.</a:t>
            </a:r>
            <a:br/>
            <a:br/>
            <a:r>
              <a:t>Likely cause: fraud protection control</a:t>
            </a:r>
            <a:br/>
            <a:r>
              <a:t>Required: verify customer attempted transaction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554480"/>
            <a:ext cx="2971800" cy="3383280"/>
          </a:xfrm>
          <a:prstGeom prst="roundRect">
            <a:avLst/>
          </a:prstGeom>
          <a:solidFill>
            <a:srgbClr val="EBF8F1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7" y="1627632"/>
            <a:ext cx="2752344" cy="32369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Human control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Agent creates PENDING request</a:t>
            </a:r>
            <a:br/>
            <a:br/>
            <a:r>
              <a:t>Employee reviews recommendation</a:t>
            </a:r>
            <a:br/>
            <a:br/>
            <a:r>
              <a:t>APPROVE or REJECT</a:t>
            </a:r>
            <a:br/>
            <a:br/>
            <a:r>
              <a:t>Decision becomes a separate audit event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57600" y="2926080"/>
            <a:ext cx="73152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" y="2926080"/>
            <a:ext cx="777239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Why these AWS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goal is a portable enterprise pattern, not dependence on a single AI model.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333756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19072"/>
            <a:ext cx="3118104" cy="3282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Managed foundation-model access through AWS APIs. The demo uses Nova for generation and Titan for embeddings.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33756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1719072"/>
            <a:ext cx="3118104" cy="3282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Aurora PostgreSQL + pgvector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Keeps deterministic facts, vector policy retrieval, action state, and audit data close together for a compact proof of concept.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337560" cy="3429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19072"/>
            <a:ext cx="3118104" cy="32826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232F3E"/>
                </a:solidFill>
                <a:latin typeface="Arimo"/>
              </a:defRPr>
            </a:pPr>
            <a:r>
              <a:t>IAM + Secrets Manager + SSM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Separate identity, secret handling, and node access from application code; no AWS keys should be committed.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mo"/>
              </a:defRPr>
            </a:pPr>
            <a:r>
              <a:t>From proof of concept to production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D7DCE3"/>
                </a:solidFill>
                <a:latin typeface="Arimo"/>
              </a:defRPr>
            </a:pPr>
            <a:r>
              <a:t>The governance pattern stays; the surrounding controls become enterprise-grade.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Secure Agentic AI Banking Demo - AWS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508760"/>
            <a:ext cx="51206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9900"/>
                </a:solidFill>
                <a:latin typeface="Arimo"/>
              </a:defRPr>
            </a:pPr>
            <a:r>
              <a:t>Keep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Authorize before retrieval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Minimize model context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Separate recommendation from execution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Require human approval for consequential action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Audit AI and human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508760"/>
            <a:ext cx="51206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F9900"/>
                </a:solidFill>
                <a:latin typeface="Arimo"/>
              </a:defRPr>
            </a:pPr>
            <a:r>
              <a:t>Add for production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Private networking and VPC endpoints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KMS encryption and secret rotation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Centralized logs, metrics, traces, and SIEM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Formal model / RAG evaluation and red-team testing</a:t>
            </a:r>
          </a:p>
          <a:p>
            <a:pPr>
              <a:spcAft>
                <a:spcPts val="700"/>
              </a:spcAft>
              <a:defRPr sz="1600">
                <a:solidFill>
                  <a:srgbClr val="FFFFFF"/>
                </a:solidFill>
                <a:latin typeface="Arimo"/>
              </a:defRPr>
            </a:pPr>
            <a:r>
              <a:t>Authenticated action APIs, resilience, DR, SLOs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