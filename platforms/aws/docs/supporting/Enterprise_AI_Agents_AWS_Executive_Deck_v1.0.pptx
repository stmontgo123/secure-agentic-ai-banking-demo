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731520"/>
            <a:ext cx="1371600" cy="109728"/>
          </a:xfrm>
          <a:prstGeom prst="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234440"/>
            <a:ext cx="1078992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  <a:latin typeface="Arimo"/>
              </a:defRPr>
            </a:pPr>
            <a:r>
              <a:t>Enterprise AI Agents on AWS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788920"/>
            <a:ext cx="9875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DCE2EA"/>
                </a:solidFill>
                <a:latin typeface="Arimo"/>
              </a:defRPr>
            </a:pPr>
            <a:r>
              <a:t>A reusable architecture for secure, auditable agentic workflows across regulated enterprise processes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4937760"/>
            <a:ext cx="1828800" cy="347472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4946904"/>
            <a:ext cx="18288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F3E"/>
                </a:solidFill>
                <a:latin typeface="Arimo"/>
              </a:defRPr>
            </a:pPr>
            <a:r>
              <a:t>BUSINESS VALUE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97480" y="4937760"/>
            <a:ext cx="1554480" cy="347472"/>
          </a:xfrm>
          <a:prstGeom prst="roundRect">
            <a:avLst/>
          </a:prstGeom>
          <a:solidFill>
            <a:srgbClr val="2091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97480" y="4946904"/>
            <a:ext cx="15544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GOVERNANCE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4937760"/>
            <a:ext cx="1737360" cy="347472"/>
          </a:xfrm>
          <a:prstGeom prst="roundRect">
            <a:avLst/>
          </a:prstGeom>
          <a:solidFill>
            <a:srgbClr val="4364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494690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REUSABLE PLATFORM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4937760"/>
            <a:ext cx="1600200" cy="347472"/>
          </a:xfrm>
          <a:prstGeom prst="roundRect">
            <a:avLst/>
          </a:prstGeom>
          <a:solidFill>
            <a:srgbClr val="774E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4946904"/>
            <a:ext cx="1600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mo"/>
              </a:defRPr>
            </a:pPr>
            <a:r>
              <a:t>HUMAN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Executive thesis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AI agents should accelerate the work around a decision without silently inheriting the authority to make it.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Enterprise AI Agents on AWS - Executive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00200"/>
            <a:ext cx="1060704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900">
                <a:solidFill>
                  <a:srgbClr val="161E29"/>
                </a:solidFill>
                <a:latin typeface="Arimo"/>
              </a:defRPr>
            </a:pPr>
            <a:r>
              <a:t>Use agents to collect evidence, retrieve approved knowledge, and assemble a recommended next action.</a:t>
            </a:r>
          </a:p>
          <a:p>
            <a:pPr>
              <a:spcAft>
                <a:spcPts val="600"/>
              </a:spcAft>
              <a:defRPr sz="1900">
                <a:solidFill>
                  <a:srgbClr val="161E29"/>
                </a:solidFill>
                <a:latin typeface="Arimo"/>
              </a:defRPr>
            </a:pPr>
            <a:r>
              <a:t>Keep identity, authorization, policy scope, and action permissions in deterministic enterprise controls.</a:t>
            </a:r>
          </a:p>
          <a:p>
            <a:pPr>
              <a:spcAft>
                <a:spcPts val="600"/>
              </a:spcAft>
              <a:defRPr sz="1900">
                <a:solidFill>
                  <a:srgbClr val="161E29"/>
                </a:solidFill>
                <a:latin typeface="Arimo"/>
              </a:defRPr>
            </a:pPr>
            <a:r>
              <a:t>Design approval state, audit events, and rollback / exception handling as first-class platform capabilities.</a:t>
            </a:r>
          </a:p>
          <a:p>
            <a:pPr>
              <a:spcAft>
                <a:spcPts val="600"/>
              </a:spcAft>
              <a:defRPr sz="1900">
                <a:solidFill>
                  <a:srgbClr val="161E29"/>
                </a:solidFill>
                <a:latin typeface="Arimo"/>
              </a:defRPr>
            </a:pPr>
            <a:r>
              <a:t>Standardize the pattern so business teams can move from proof of value to production without rebuilding governance each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5166360"/>
            <a:ext cx="9875520" cy="73152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7" y="5239512"/>
            <a:ext cx="9656064" cy="58521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Outcome: faster employee decisions with explicit accountability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A repeatable path from idea to production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platform accelerates common control decisions while business teams own the domain outcome.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Enterprise AI Agents on AWS - Executive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24231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901952"/>
            <a:ext cx="2203704" cy="2231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Discover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High-value workflow</a:t>
            </a:r>
            <a:br/>
            <a:r>
              <a:t>Risk + data classification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08960" y="3017520"/>
            <a:ext cx="411480" cy="0"/>
          </a:xfrm>
          <a:prstGeom prst="line">
            <a:avLst/>
          </a:prstGeom>
          <a:ln w="2540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3520440" y="1828800"/>
            <a:ext cx="24231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30168" y="1901952"/>
            <a:ext cx="2203704" cy="2231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Prove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Synthetic / sandbox data</a:t>
            </a:r>
            <a:br/>
            <a:r>
              <a:t>Measure time-to-value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943600" y="3017520"/>
            <a:ext cx="411480" cy="0"/>
          </a:xfrm>
          <a:prstGeom prst="line">
            <a:avLst/>
          </a:prstGeom>
          <a:ln w="2540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6355080" y="1828800"/>
            <a:ext cx="24231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1901952"/>
            <a:ext cx="2203704" cy="2231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Harden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Identity + network</a:t>
            </a:r>
            <a:br/>
            <a:r>
              <a:t>Eval + observability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778240" y="3017520"/>
            <a:ext cx="411480" cy="0"/>
          </a:xfrm>
          <a:prstGeom prst="line">
            <a:avLst/>
          </a:prstGeom>
          <a:ln w="25400">
            <a:solidFill>
              <a:srgbClr val="5865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189720" y="1828800"/>
            <a:ext cx="2423160" cy="2377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99448" y="1901952"/>
            <a:ext cx="2203704" cy="2231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Scale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Reusable patterns</a:t>
            </a:r>
            <a:br/>
            <a:r>
              <a:t>Operating model + SLOs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Reference platform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A small set of shared services can support many business agents.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Enterprise AI Agents on AWS - Executive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57400"/>
            <a:ext cx="1645920" cy="10058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2130552"/>
            <a:ext cx="1426464" cy="8595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Channels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Web / service desk /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1600200"/>
            <a:ext cx="2011680" cy="19202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52928" y="1673352"/>
            <a:ext cx="1792224" cy="177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Agent runtime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Python / containers</a:t>
            </a:r>
            <a:br/>
            <a:r>
              <a:t>workflow state</a:t>
            </a:r>
            <a:br/>
            <a:r>
              <a:t>tool orchestration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0" y="960120"/>
            <a:ext cx="20574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336F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96128" y="1033272"/>
            <a:ext cx="1837943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Enterprise data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Aurora / APIs / systems of record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0" y="2560320"/>
            <a:ext cx="2057400" cy="12344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96128" y="2633472"/>
            <a:ext cx="1837943" cy="10881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232F3E"/>
                </a:solidFill>
                <a:latin typeface="Arimo"/>
              </a:defRPr>
            </a:pPr>
            <a:r>
              <a:t>Authorized knowledge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pgvector / approved policy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00200"/>
            <a:ext cx="2103120" cy="1920240"/>
          </a:xfrm>
          <a:prstGeom prst="roundRect">
            <a:avLst/>
          </a:prstGeom>
          <a:solidFill>
            <a:srgbClr val="FFF4E0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7" y="1673352"/>
            <a:ext cx="1883663" cy="17739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Amazon Bedrock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Generation</a:t>
            </a:r>
            <a:br/>
            <a:r>
              <a:t>Embeddings</a:t>
            </a:r>
            <a:br/>
            <a:r>
              <a:t>model portability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0" y="4434840"/>
            <a:ext cx="2011680" cy="914400"/>
          </a:xfrm>
          <a:prstGeom prst="roundRect">
            <a:avLst/>
          </a:prstGeom>
          <a:solidFill>
            <a:srgbClr val="EBF8F1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52928" y="4507992"/>
            <a:ext cx="1792224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Approval + action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PENDING -&gt; human -&gt; execute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4434840"/>
            <a:ext cx="2057400" cy="9144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43648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4507992"/>
            <a:ext cx="1837943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232F3E"/>
                </a:solidFill>
                <a:latin typeface="Arimo"/>
              </a:defRPr>
            </a:pPr>
            <a:r>
              <a:t>Audit + observability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business + AI events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240280" y="2560320"/>
            <a:ext cx="502920" cy="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4754880" y="1600200"/>
            <a:ext cx="731520" cy="54864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54880" y="3017520"/>
            <a:ext cx="731520" cy="18288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7543800" y="1600200"/>
            <a:ext cx="777240" cy="59436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7543800" y="2926080"/>
            <a:ext cx="777240" cy="274320"/>
          </a:xfrm>
          <a:prstGeom prst="line">
            <a:avLst/>
          </a:prstGeom>
          <a:ln w="25400">
            <a:solidFill>
              <a:srgbClr val="232F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3749039" y="3520440"/>
            <a:ext cx="0" cy="914400"/>
          </a:xfrm>
          <a:prstGeom prst="line">
            <a:avLst/>
          </a:prstGeom>
          <a:ln w="25400">
            <a:solidFill>
              <a:srgbClr val="2091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80" y="4892040"/>
            <a:ext cx="731520" cy="0"/>
          </a:xfrm>
          <a:prstGeom prst="line">
            <a:avLst/>
          </a:prstGeom>
          <a:ln w="25400">
            <a:solidFill>
              <a:srgbClr val="43648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Governance is a system design, not a prompt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Control points are explicit and testable.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Enterprise AI Agents on AWS - Executive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50876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12648" y="1581912"/>
            <a:ext cx="316382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Identity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Who is asking?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50876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53128" y="1581912"/>
            <a:ext cx="316382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Authorization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What data/tools are allowed?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50876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8" y="1581912"/>
            <a:ext cx="316382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Context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What minimum evidence is sent?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56616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3639312"/>
            <a:ext cx="316382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Model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What is the model asked to do?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356616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53128" y="3639312"/>
            <a:ext cx="316382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Approval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Who owns the decision?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83880" y="3566160"/>
            <a:ext cx="3383280" cy="15087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93608" y="3639312"/>
            <a:ext cx="3163824" cy="13624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Audit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Can we reconstruct what happened?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Where the value comes from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Agentic AI is most useful where people spend time assembling evidence before making a governed decision.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Enterprise AI Agents on AWS - Executive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508760"/>
            <a:ext cx="5074920" cy="16916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581912"/>
            <a:ext cx="4855464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Employee capacity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Less navigation and manual evidence assembly.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508760"/>
            <a:ext cx="5074920" cy="16916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581912"/>
            <a:ext cx="4855464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Consistency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Approved policy is retrieved at runtime instead of relying on memory.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703320"/>
            <a:ext cx="5074920" cy="16916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3776472"/>
            <a:ext cx="4855464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Speed to value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Shared platform controls shorten the path from idea to proof.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55080" y="3703320"/>
            <a:ext cx="5074920" cy="1691640"/>
          </a:xfrm>
          <a:prstGeom prst="roundRect">
            <a:avLst/>
          </a:prstGeom>
          <a:solidFill>
            <a:srgbClr val="F4F7FA"/>
          </a:solidFill>
          <a:ln w="25400">
            <a:solidFill>
              <a:srgbClr val="232F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64808" y="3776472"/>
            <a:ext cx="4855464" cy="15453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232F3E"/>
                </a:solidFill>
                <a:latin typeface="Arimo"/>
              </a:defRPr>
            </a:pPr>
            <a:r>
              <a:t>Risk reduction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Least privilege, approval state, and audit are designed into the flow.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232F3E"/>
                </a:solidFill>
                <a:latin typeface="Arimo"/>
              </a:defRPr>
            </a:pPr>
            <a:r>
              <a:t>Enterprise risks and design responses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586576"/>
                </a:solidFill>
                <a:latin typeface="Arimo"/>
              </a:defRPr>
            </a:pPr>
            <a:r>
              <a:t>The platform should make the risky paths harder, not merely warn users about them.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Enterprise AI Agents on AWS - Executive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17320"/>
            <a:ext cx="28346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490472"/>
            <a:ext cx="261518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Sensitive-data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886200" y="1417320"/>
            <a:ext cx="72694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95928" y="1490472"/>
            <a:ext cx="705002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Filter fields and knowledge before model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286000"/>
            <a:ext cx="28346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2359152"/>
            <a:ext cx="261518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Hallucinated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86200" y="2286000"/>
            <a:ext cx="72694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95928" y="2359152"/>
            <a:ext cx="705002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Ground generation in retrieved evidence; require human approval.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154680"/>
            <a:ext cx="28346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3227832"/>
            <a:ext cx="261518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Over-privileged agents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86200" y="3154680"/>
            <a:ext cx="72694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95928" y="3227832"/>
            <a:ext cx="705002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Separate tool permissions by role and service identity.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023359"/>
            <a:ext cx="28346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4096511"/>
            <a:ext cx="261518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Opaque outcomes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886200" y="4023359"/>
            <a:ext cx="72694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995928" y="4096511"/>
            <a:ext cx="705002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Persist AI stages, inputs/IDs, approval state, and human decision.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892040"/>
            <a:ext cx="283464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43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1248" y="4965192"/>
            <a:ext cx="261518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Model lock-in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886200" y="4892040"/>
            <a:ext cx="7269480" cy="658368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091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95928" y="4965192"/>
            <a:ext cx="7050024" cy="51206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232F3E"/>
                </a:solidFill>
                <a:latin typeface="Arimo"/>
              </a:defRPr>
            </a:pPr>
            <a:r>
              <a:t>Keep governance and business state outside the foundation model.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94360"/>
          </a:xfrm>
          <a:prstGeom prst="rect">
            <a:avLst/>
          </a:prstGeom>
          <a:noFill/>
        </p:spPr>
        <p:txBody>
          <a:bodyPr wrap="none" lIns="0" rIns="0">
            <a:spAutoFit/>
          </a:bodyPr>
          <a:lstStyle/>
          <a:p>
            <a:pPr>
              <a:defRPr sz="2600" b="1">
                <a:solidFill>
                  <a:srgbClr val="FFFFFF"/>
                </a:solidFill>
                <a:latin typeface="Arimo"/>
              </a:defRPr>
            </a:pPr>
            <a:r>
              <a:t>90-day platform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932688"/>
            <a:ext cx="10607040" cy="384048"/>
          </a:xfrm>
          <a:prstGeom prst="rect">
            <a:avLst/>
          </a:prstGeom>
          <a:noFill/>
        </p:spPr>
        <p:txBody>
          <a:bodyPr wrap="none" lIns="0">
            <a:spAutoFit/>
          </a:bodyPr>
          <a:lstStyle/>
          <a:p>
            <a:pPr>
              <a:defRPr sz="1250">
                <a:solidFill>
                  <a:srgbClr val="D7DCE3"/>
                </a:solidFill>
                <a:latin typeface="Arimo"/>
              </a:defRPr>
            </a:pPr>
            <a:r>
              <a:t>Start with one defendable workflow, then standardize the reusable controls.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647688"/>
            <a:ext cx="12191695" cy="210312"/>
          </a:xfrm>
          <a:prstGeom prst="rect">
            <a:avLst/>
          </a:prstGeom>
          <a:solidFill>
            <a:srgbClr val="232F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6665976"/>
            <a:ext cx="11430000" cy="137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50">
                <a:solidFill>
                  <a:srgbClr val="FFFFFF"/>
                </a:solidFill>
                <a:latin typeface="Arimo"/>
              </a:defRPr>
            </a:pPr>
            <a:r>
              <a:t>Enterprise AI Agents on AWS - Executive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37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1719072"/>
            <a:ext cx="3118104" cy="3328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Prove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Deploy sandbox, load synthetic data, validate Bedrock + pgvector, capture baseline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1234440"/>
            <a:ext cx="1463040" cy="347472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1243584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F3E"/>
                </a:solidFill>
                <a:latin typeface="Arimo"/>
              </a:defRPr>
            </a:pPr>
            <a:r>
              <a:t>0-30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645920"/>
            <a:ext cx="3337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8" y="1719072"/>
            <a:ext cx="3118104" cy="3328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Harden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Add IAM boundaries, Secrets Manager, SSM, observability, evaluation tests, and failure paths.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40680" y="1234440"/>
            <a:ext cx="1463040" cy="347472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40680" y="1243584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F3E"/>
                </a:solidFill>
                <a:latin typeface="Arimo"/>
              </a:defRPr>
            </a:pPr>
            <a:r>
              <a:t>31-60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1645920"/>
            <a:ext cx="3337560" cy="3474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F99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30768" y="1719072"/>
            <a:ext cx="3118104" cy="332841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232F3E"/>
                </a:solidFill>
                <a:latin typeface="Arimo"/>
              </a:defRPr>
            </a:pPr>
            <a:r>
              <a:t>Scale</a:t>
            </a:r>
          </a:p>
          <a:p>
            <a:pPr algn="ctr">
              <a:defRPr sz="1000">
                <a:solidFill>
                  <a:srgbClr val="586576"/>
                </a:solidFill>
                <a:latin typeface="Arimo"/>
              </a:defRPr>
            </a:pPr>
            <a:r>
              <a:t>Package reference architecture, deployment automation, reusable approval/audit components, and onboarding checklist.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35440" y="1234440"/>
            <a:ext cx="1463040" cy="347472"/>
          </a:xfrm>
          <a:prstGeom prst="roundRect">
            <a:avLst/>
          </a:prstGeom>
          <a:solidFill>
            <a:srgbClr val="FF9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243584"/>
            <a:ext cx="14630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232F3E"/>
                </a:solidFill>
                <a:latin typeface="Arimo"/>
              </a:defRPr>
            </a:pPr>
            <a:r>
              <a:t>61-90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