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mo"/>
              </a:defRPr>
            </a:pPr>
            <a:r>
              <a:t>Amazon Bedrock + Aurora pgvector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D7DCE3"/>
                </a:solidFill>
                <a:latin typeface="Arimo"/>
              </a:defRPr>
            </a:pPr>
            <a:r>
              <a:t>Expanded technical architecture for secure 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926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2706624" cy="1956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Amazon Bedrock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Nova generation</a:t>
            </a:r>
            <a:br/>
            <a:r>
              <a:t>Titan 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28800"/>
            <a:ext cx="2926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901952"/>
            <a:ext cx="2706624" cy="1956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Aurora PostgreSQL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relational facts</a:t>
            </a:r>
            <a:br/>
            <a:r>
              <a:t>pgvector policy</a:t>
            </a:r>
            <a:br/>
            <a:r>
              <a:t>action + audit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828800"/>
            <a:ext cx="2926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901952"/>
            <a:ext cx="2706624" cy="1956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Python Agent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authorization</a:t>
            </a:r>
            <a:br/>
            <a:r>
              <a:t>orchestration</a:t>
            </a:r>
            <a:br/>
            <a:r>
              <a:t>human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Data model: keep deterministic evidence and AI state explicit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model reads a bounded context assembled from enterprise data; it does not become the system of record.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1463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90472"/>
            <a:ext cx="3118104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transactions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transaction_id, account_id, amount, status, decline_code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463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90472"/>
            <a:ext cx="3118104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accounts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account_status, available_balance, card_last4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337560" cy="1463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490472"/>
            <a:ext cx="3118104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fraud_events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safe_description + restricted internal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74720"/>
            <a:ext cx="3337560" cy="1463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547872"/>
            <a:ext cx="3118104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policy_chunks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policy text, allowed_role, vector(1024)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337560" cy="1463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547872"/>
            <a:ext cx="3118104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action_requests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PENDING / APPROVED /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474720"/>
            <a:ext cx="3337560" cy="14630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3547872"/>
            <a:ext cx="3118104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ai_audit_log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stage, outcome, role, details, timestamp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Embedding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Policy text becomes a vector once; employee questions are embedded at runtime.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1031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67712"/>
            <a:ext cx="1883663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Approved policy text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CV-04 / CA-12 / FR-09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94560"/>
            <a:ext cx="2194560" cy="128016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2267712"/>
            <a:ext cx="19751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Titan Text Embeddings V2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1024 dimensions in this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21488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267712"/>
            <a:ext cx="192938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pgvector column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vector(1024)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94560"/>
            <a:ext cx="23774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267712"/>
            <a:ext cx="215798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Aurora PostgreSQL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policy_chunks.embedding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834640"/>
            <a:ext cx="59436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32120" y="2834640"/>
            <a:ext cx="64008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2834640"/>
            <a:ext cx="64008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20624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61E29"/>
                </a:solidFill>
                <a:latin typeface="Arimo"/>
              </a:defRPr>
            </a:pPr>
            <a:r>
              <a:t>Embedding generation is separate from authorization.</a:t>
            </a:r>
          </a:p>
          <a:p>
            <a:pPr>
              <a:spcAft>
                <a:spcPts val="600"/>
              </a:spcAft>
              <a:defRPr sz="1600">
                <a:solidFill>
                  <a:srgbClr val="161E29"/>
                </a:solidFill>
                <a:latin typeface="Arimo"/>
              </a:defRPr>
            </a:pPr>
            <a:r>
              <a:t>The stored vector does not replace the policy text or classification metadata.</a:t>
            </a:r>
          </a:p>
          <a:p>
            <a:pPr>
              <a:spcAft>
                <a:spcPts val="600"/>
              </a:spcAft>
              <a:defRPr sz="1600">
                <a:solidFill>
                  <a:srgbClr val="161E29"/>
                </a:solidFill>
                <a:latin typeface="Arimo"/>
              </a:defRPr>
            </a:pPr>
            <a:r>
              <a:t>Changing embedding models requires re-embedding the policy corpus.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Retrieval pipeline: authorization first, similarity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This ordering is the most important security property in the RAG 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920240" cy="150876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93392"/>
            <a:ext cx="170078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Employee role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CUSTOMER_SERVICE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670048"/>
            <a:ext cx="384048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920240"/>
            <a:ext cx="1920240" cy="150876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993392"/>
            <a:ext cx="170078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SQL predicate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allowed_role = role OR ALL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27448" y="2670048"/>
            <a:ext cx="384048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1496" y="1920240"/>
            <a:ext cx="1920240" cy="150876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993392"/>
            <a:ext cx="170078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Eligible rows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CV-04 + CA-12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31736" y="2670048"/>
            <a:ext cx="384047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15784" y="1920240"/>
            <a:ext cx="1920240" cy="150876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993392"/>
            <a:ext cx="170078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Cosine ranking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embedding &lt;=&gt; query_vector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36024" y="2670048"/>
            <a:ext cx="384048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20072" y="1920240"/>
            <a:ext cx="1920240" cy="150876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993392"/>
            <a:ext cx="170078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Top K context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only authorized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251960"/>
            <a:ext cx="5212080" cy="914400"/>
          </a:xfrm>
          <a:prstGeom prst="roundRect">
            <a:avLst/>
          </a:prstGeom>
          <a:solidFill>
            <a:srgbClr val="FDEEEE"/>
          </a:solidFill>
          <a:ln w="2540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4325112"/>
            <a:ext cx="499262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FR-09 never enters CUSTOMER_SERVICE model context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Restricted row is excluded before vector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Amazon Bedrock receives a compact prompt containing only authorized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74320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73352"/>
            <a:ext cx="2523744" cy="3145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Prompt assembly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Transaction</a:t>
            </a:r>
            <a:br/>
            <a:r>
              <a:t>Account</a:t>
            </a:r>
            <a:br/>
            <a:r>
              <a:t>Safe fraud evidence</a:t>
            </a:r>
            <a:br/>
            <a:r>
              <a:t>Authorized policies</a:t>
            </a:r>
            <a:br/>
            <a:r>
              <a:t>Rules: do not invent, cite policy IDs, do not execute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011680"/>
            <a:ext cx="3200400" cy="246888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2084832"/>
            <a:ext cx="2980944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2F3E"/>
                </a:solidFill>
                <a:latin typeface="Arimo"/>
              </a:defRPr>
            </a:pPr>
            <a:r>
              <a:t>Amazon Nova Lite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Low-temperature grounded synthesis</a:t>
            </a:r>
            <a:br/>
            <a:br/>
            <a:r>
              <a:t>Returns employee-facing explanation + recommended next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00200"/>
            <a:ext cx="292608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1673352"/>
            <a:ext cx="2706624" cy="3145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Output boundary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Recommendation only</a:t>
            </a:r>
            <a:br/>
            <a:r>
              <a:t>No transaction retry</a:t>
            </a:r>
            <a:br/>
            <a:r>
              <a:t>No approval</a:t>
            </a:r>
            <a:br/>
            <a:r>
              <a:t>No privileged data expansion</a:t>
            </a:r>
            <a:br/>
            <a:r>
              <a:t>Response captured in audit event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3246120"/>
            <a:ext cx="73152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0" y="3246120"/>
            <a:ext cx="77724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Human approval is a separate state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AI cannot approve its own proposed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286000" cy="155448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21992"/>
            <a:ext cx="2066543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AI recommendation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proposed_action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48840"/>
            <a:ext cx="2286000" cy="155448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2221992"/>
            <a:ext cx="2066543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action_requests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48840"/>
            <a:ext cx="2286000" cy="1554480"/>
          </a:xfrm>
          <a:prstGeom prst="roundRect">
            <a:avLst/>
          </a:prstGeom>
          <a:solidFill>
            <a:srgbClr val="EBF8F1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221992"/>
            <a:ext cx="2066543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Human review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APPROVE / 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148840"/>
            <a:ext cx="21031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6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6607" y="2221992"/>
            <a:ext cx="1883663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Audit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HUMAN_REVIEW event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926080"/>
            <a:ext cx="64008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2926080"/>
            <a:ext cx="64008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2926080"/>
            <a:ext cx="45720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425196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61E29"/>
                </a:solidFill>
                <a:latin typeface="Arimo"/>
              </a:defRPr>
            </a:pPr>
            <a:r>
              <a:t>Action state can be inspected independently of model output.</a:t>
            </a:r>
          </a:p>
          <a:p>
            <a:pPr>
              <a:spcAft>
                <a:spcPts val="600"/>
              </a:spcAft>
              <a:defRPr sz="1600">
                <a:solidFill>
                  <a:srgbClr val="161E29"/>
                </a:solidFill>
                <a:latin typeface="Arimo"/>
              </a:defRPr>
            </a:pPr>
            <a:r>
              <a:t>Approval logic can later move to a web UI or authenticated action API without changing the security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AWS identity, secrets, and network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application should inherit credentials from its workload identity, not from committed keys.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120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99032"/>
            <a:ext cx="4992624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EC2 instance role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bedrock:InvokeModel + scoped Secrets Manager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99032"/>
            <a:ext cx="4992624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Systems Manager Session Manager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preferred admin path; no inbound SSH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98648"/>
            <a:ext cx="52120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71800"/>
            <a:ext cx="4992624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Secrets Manager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database credentials outside source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98648"/>
            <a:ext cx="52120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971800"/>
            <a:ext cx="4992624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Security groups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database 5432 only from application security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71416"/>
            <a:ext cx="52120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544568"/>
            <a:ext cx="4992624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TLS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encrypted database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471416"/>
            <a:ext cx="52120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8"/>
            <a:ext cx="4992624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VPC endpoints - production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private service access where appropriate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Auditability and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Business audit and operational telemetry serve different purposes; production needs both.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91840" cy="347472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73352"/>
            <a:ext cx="3072384" cy="332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Business / AI audit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TRANSACTION_LOOKUP</a:t>
            </a:r>
            <a:br/>
            <a:r>
              <a:t>ACCOUNT_LOOKUP</a:t>
            </a:r>
            <a:br/>
            <a:r>
              <a:t>FRAUD_LOOKUP</a:t>
            </a:r>
            <a:br/>
            <a:r>
              <a:t>POLICY_RETRIEVAL</a:t>
            </a:r>
            <a:br/>
            <a:r>
              <a:t>PROMPT_ASSEMBLY</a:t>
            </a:r>
            <a:br/>
            <a:r>
              <a:t>LLM_RESPONSE</a:t>
            </a:r>
            <a:br/>
            <a:r>
              <a:t>ACTION_REQUEST</a:t>
            </a:r>
            <a:br/>
            <a:r>
              <a:t>HUMAN_REVIEW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91840" cy="347472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436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73352"/>
            <a:ext cx="3072384" cy="332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Operational telemetry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Application logs</a:t>
            </a:r>
            <a:br/>
            <a:r>
              <a:t>Bedrock invocation errors</a:t>
            </a:r>
            <a:br/>
            <a:r>
              <a:t>Database performance</a:t>
            </a:r>
            <a:br/>
            <a:r>
              <a:t>Latency and failure rate</a:t>
            </a:r>
            <a:br/>
            <a:r>
              <a:t>SSM access logs</a:t>
            </a:r>
            <a:br/>
            <a:r>
              <a:t>CloudWatch metrics /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00200"/>
            <a:ext cx="3291840" cy="347472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7" y="1673352"/>
            <a:ext cx="3072384" cy="332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Evaluation telemetry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Grounding quality</a:t>
            </a:r>
            <a:br/>
            <a:r>
              <a:t>Policy citation accuracy</a:t>
            </a:r>
            <a:br/>
            <a:r>
              <a:t>Unauthorized-context tests</a:t>
            </a:r>
            <a:br/>
            <a:r>
              <a:t>Prompt-injection tests</a:t>
            </a:r>
            <a:br/>
            <a:r>
              <a:t>Human override rate</a:t>
            </a:r>
            <a:br/>
            <a:r>
              <a:t>Outcome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mo"/>
              </a:defRPr>
            </a:pPr>
            <a:r>
              <a:t>Production scaling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D7DCE3"/>
                </a:solidFill>
                <a:latin typeface="Arimo"/>
              </a:defRPr>
            </a:pPr>
            <a:r>
              <a:t>Preserve the control flow while substituting stronger enterprise components.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AWS Bedrock + Aurora pgvector - Expanded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737360"/>
          </a:xfrm>
          <a:prstGeom prst="roundRect">
            <a:avLst/>
          </a:prstGeom>
          <a:solidFill>
            <a:srgbClr val="303D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90472"/>
            <a:ext cx="3163824" cy="1591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Application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ECS/Fargate or EKS, autoscaling, health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mo"/>
              </a:defRPr>
            </a:pPr>
            <a:r>
              <a:t>Application</a:t>
            </a:r>
          </a:p>
          <a:p>
            <a:pPr algn="ctr">
              <a:defRPr sz="1100">
                <a:solidFill>
                  <a:srgbClr val="D7DDE5"/>
                </a:solidFill>
                <a:latin typeface="Arimo"/>
              </a:defRPr>
            </a:pPr>
            <a:r>
              <a:t>ECS/Fargate or EKS, autoscaling, health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83280" cy="1737360"/>
          </a:xfrm>
          <a:prstGeom prst="roundRect">
            <a:avLst/>
          </a:prstGeom>
          <a:solidFill>
            <a:srgbClr val="303D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163824" cy="1591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Data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Aurora HA, backups, encryption, connection pooling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mo"/>
              </a:defRPr>
            </a:pPr>
            <a:r>
              <a:t>Data</a:t>
            </a:r>
          </a:p>
          <a:p>
            <a:pPr algn="ctr">
              <a:defRPr sz="1100">
                <a:solidFill>
                  <a:srgbClr val="D7DDE5"/>
                </a:solidFill>
                <a:latin typeface="Arimo"/>
              </a:defRPr>
            </a:pPr>
            <a:r>
              <a:t>Aurora HA, backups, encryption, connection pooling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383280" cy="1737360"/>
          </a:xfrm>
          <a:prstGeom prst="roundRect">
            <a:avLst/>
          </a:prstGeom>
          <a:solidFill>
            <a:srgbClr val="303D4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7" y="1490472"/>
            <a:ext cx="3163824" cy="1591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AI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model routing, quotas, evaluation, fallback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527048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mo"/>
              </a:defRPr>
            </a:pPr>
            <a:r>
              <a:t>AI</a:t>
            </a:r>
          </a:p>
          <a:p>
            <a:pPr algn="ctr">
              <a:defRPr sz="1100">
                <a:solidFill>
                  <a:srgbClr val="D7DDE5"/>
                </a:solidFill>
                <a:latin typeface="Arimo"/>
              </a:defRPr>
            </a:pPr>
            <a:r>
              <a:t>model routing, quotas, evaluation, fallback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3383280" cy="1737360"/>
          </a:xfrm>
          <a:prstGeom prst="roundRect">
            <a:avLst/>
          </a:prstGeom>
          <a:solidFill>
            <a:srgbClr val="303D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30752"/>
            <a:ext cx="3163824" cy="1591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Actions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authenticated/idempotent APIs, segregation of duties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mo"/>
              </a:defRPr>
            </a:pPr>
            <a:r>
              <a:t>Actions</a:t>
            </a:r>
          </a:p>
          <a:p>
            <a:pPr algn="ctr">
              <a:defRPr sz="1100">
                <a:solidFill>
                  <a:srgbClr val="D7DDE5"/>
                </a:solidFill>
                <a:latin typeface="Arimo"/>
              </a:defRPr>
            </a:pPr>
            <a:r>
              <a:t>authenticated/idempotent APIs, segregation of duties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657600"/>
            <a:ext cx="3383280" cy="1737360"/>
          </a:xfrm>
          <a:prstGeom prst="roundRect">
            <a:avLst/>
          </a:prstGeom>
          <a:solidFill>
            <a:srgbClr val="303D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730752"/>
            <a:ext cx="3163824" cy="1591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Security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private endpoints, KMS, SIEM, detection, policy as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767328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mo"/>
              </a:defRPr>
            </a:pPr>
            <a:r>
              <a:t>Security</a:t>
            </a:r>
          </a:p>
          <a:p>
            <a:pPr algn="ctr">
              <a:defRPr sz="1100">
                <a:solidFill>
                  <a:srgbClr val="D7DDE5"/>
                </a:solidFill>
                <a:latin typeface="Arimo"/>
              </a:defRPr>
            </a:pPr>
            <a:r>
              <a:t>private endpoints, KMS, SIEM, detection, policy as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57600"/>
            <a:ext cx="3383280" cy="1737360"/>
          </a:xfrm>
          <a:prstGeom prst="roundRect">
            <a:avLst/>
          </a:prstGeom>
          <a:solidFill>
            <a:srgbClr val="303D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7" y="3730752"/>
            <a:ext cx="3163824" cy="1591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Resilience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DR, retries, circuit breakers, SLOs, runbooks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767328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mo"/>
              </a:defRPr>
            </a:pPr>
            <a:r>
              <a:t>Resilience</a:t>
            </a:r>
          </a:p>
          <a:p>
            <a:pPr algn="ctr">
              <a:defRPr sz="1100">
                <a:solidFill>
                  <a:srgbClr val="D7DDE5"/>
                </a:solidFill>
                <a:latin typeface="Arimo"/>
              </a:defRPr>
            </a:pPr>
            <a:r>
              <a:t>DR, retries, circuit breakers, SLOs, runbooks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