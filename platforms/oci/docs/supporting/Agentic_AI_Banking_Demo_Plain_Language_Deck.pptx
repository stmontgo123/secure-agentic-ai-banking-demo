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human story, not the technology. The point of the demo is to show AI helping an employee resolve a common customer problem faster while preserving human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relatable. The customer sees one problem; the employee may have to assemble the answer from several places. That is the friction we are trying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current-state slide. Avoid blaming employees. The design problem is fragmented information, confusing codes, and time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transition from current state to opportunity. We are not saying AI replaces the employee. We are saying the employee gets the relevant story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introduce Jane and transaction 847291. Everything is synthetic. The demo begins when the employee asks the system to resolve the declined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show the gathered transaction, account, and alert information. Keep the explanation simple: AI collected the facts the employee would otherwise look up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demo can show the retrieved procedure. The important story is not the search method. It is that the AI finds the applicable procedure and only sees procedures the employee is allowed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AI adds interpretation. It combines the facts and procedure into a clear explanation. Stress that the result is a recommendation, not an autonomous banking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this slide. This is the accountability point. In the live demo, show that the AI can prepare the action but cannot carry it out until the employee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status change and the audit entries in the live demo. This demonstrates that the agent is part of a controlled workflow, not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business outcome slide. Do not promise specific time savings unless you have measured them. The point is the direction of change: less hunting, more customer-facing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thesis from slide 1. The demo is intentionally small, but it proves the operating model: AI increases capacity, controls remain in place, and the employee retains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6601968"/>
            <a:ext cx="12191695" cy="256032"/>
          </a:xfrm>
          <a:prstGeom prst="rect">
            <a:avLst/>
          </a:prstGeom>
          <a:solidFill>
            <a:srgbClr val="0B2E63"/>
          </a:solidFill>
          <a:ln w="12700">
            <a:solidFill>
              <a:srgbClr val="0B2E63"/>
            </a:solidFill>
            <a:prstDash val="solid"/>
          </a:ln>
        </p:spPr>
      </p:sp>
      <p:sp>
        <p:nvSpPr>
          <p:cNvPr id="3" name="Text 1"/>
          <p:cNvSpPr/>
          <p:nvPr/>
        </p:nvSpPr>
        <p:spPr>
          <a:xfrm>
            <a:off x="384048" y="6611112"/>
            <a:ext cx="4937760" cy="164592"/>
          </a:xfrm>
          <a:prstGeom prst="rect">
            <a:avLst/>
          </a:prstGeom>
          <a:noFill/>
          <a:ln/>
        </p:spPr>
        <p:txBody>
          <a:bodyPr wrap="square" lIns="0" tIns="0" rIns="0" bIns="0" rtlCol="0" anchor="ctr"/>
          <a:lstStyle/>
          <a:p>
            <a:pPr indent="0" marL="0">
              <a:buNone/>
            </a:pPr>
            <a:r>
              <a:rPr lang="en-US" sz="850" dirty="0">
                <a:solidFill>
                  <a:srgbClr val="FFFFFF"/>
                </a:solidFill>
                <a:latin typeface="Aptos" pitchFamily="34" charset="0"/>
                <a:ea typeface="Aptos" pitchFamily="34" charset="-122"/>
                <a:cs typeface="Aptos" pitchFamily="34" charset="-120"/>
              </a:rPr>
              <a:t>Secure Agentic AI Banking Demo</a:t>
            </a:r>
            <a:endParaRPr lang="en-US" sz="850" dirty="0"/>
          </a:p>
        </p:txBody>
      </p:sp>
      <p:sp>
        <p:nvSpPr>
          <p:cNvPr id="4" name="Text 2"/>
          <p:cNvSpPr/>
          <p:nvPr/>
        </p:nvSpPr>
        <p:spPr>
          <a:xfrm>
            <a:off x="8549640" y="6611112"/>
            <a:ext cx="3246120" cy="164592"/>
          </a:xfrm>
          <a:prstGeom prst="rect">
            <a:avLst/>
          </a:prstGeom>
          <a:noFill/>
          <a:ln/>
        </p:spPr>
        <p:txBody>
          <a:bodyPr wrap="square" lIns="0" tIns="0" rIns="0" bIns="0" rtlCol="0" anchor="ctr"/>
          <a:lstStyle/>
          <a:p>
            <a:pPr algn="r" indent="0" marL="0">
              <a:buNone/>
            </a:pPr>
            <a:r>
              <a:rPr lang="en-US" sz="850" dirty="0">
                <a:solidFill>
                  <a:srgbClr val="D9E6F7"/>
                </a:solidFill>
                <a:latin typeface="Aptos" pitchFamily="34" charset="0"/>
                <a:ea typeface="Aptos" pitchFamily="34" charset="-122"/>
                <a:cs typeface="Aptos" pitchFamily="34" charset="-120"/>
              </a:rPr>
              <a:t>Portfolio Proof of Concept</a:t>
            </a:r>
            <a:endParaRPr lang="en-US" sz="85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1-9.png"/><Relationship Id="rId10" Type="http://schemas.openxmlformats.org/officeDocument/2006/relationships/image" Target="../media/image-1-10.sv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slideLayout" Target="../slideLayouts/slideLayout2.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slideLayout" Target="../slideLayouts/slideLayout2.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svg"/><Relationship Id="rId15" Type="http://schemas.openxmlformats.org/officeDocument/2006/relationships/image" Target="../media/image-10-15.png"/><Relationship Id="rId16" Type="http://schemas.openxmlformats.org/officeDocument/2006/relationships/image" Target="../media/image-10-16.svg"/><Relationship Id="rId17" Type="http://schemas.openxmlformats.org/officeDocument/2006/relationships/image" Target="../media/image-10-17.png"/><Relationship Id="rId18" Type="http://schemas.openxmlformats.org/officeDocument/2006/relationships/image" Target="../media/image-10-18.svg"/><Relationship Id="rId19" Type="http://schemas.openxmlformats.org/officeDocument/2006/relationships/slideLayout" Target="../slideLayouts/slideLayout2.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image" Target="../media/image-11-13.png"/><Relationship Id="rId14" Type="http://schemas.openxmlformats.org/officeDocument/2006/relationships/image" Target="../media/image-11-14.svg"/><Relationship Id="rId15" Type="http://schemas.openxmlformats.org/officeDocument/2006/relationships/image" Target="../media/image-11-15.png"/><Relationship Id="rId16" Type="http://schemas.openxmlformats.org/officeDocument/2006/relationships/image" Target="../media/image-11-16.svg"/><Relationship Id="rId17" Type="http://schemas.openxmlformats.org/officeDocument/2006/relationships/image" Target="../media/image-11-17.png"/><Relationship Id="rId18" Type="http://schemas.openxmlformats.org/officeDocument/2006/relationships/image" Target="../media/image-11-18.svg"/><Relationship Id="rId19" Type="http://schemas.openxmlformats.org/officeDocument/2006/relationships/image" Target="../media/image-11-19.png"/><Relationship Id="rId20" Type="http://schemas.openxmlformats.org/officeDocument/2006/relationships/image" Target="../media/image-11-20.svg"/><Relationship Id="rId21" Type="http://schemas.openxmlformats.org/officeDocument/2006/relationships/slideLayout" Target="../slideLayouts/slideLayout2.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601968"/>
          </a:xfrm>
          <a:prstGeom prst="rect">
            <a:avLst/>
          </a:prstGeom>
          <a:solidFill>
            <a:srgbClr val="FFFFFF"/>
          </a:solidFill>
          <a:ln w="12700">
            <a:solidFill>
              <a:srgbClr val="FFFFFF"/>
            </a:solidFill>
            <a:prstDash val="solid"/>
          </a:ln>
        </p:spPr>
      </p:sp>
      <p:sp>
        <p:nvSpPr>
          <p:cNvPr id="3" name="Shape 1"/>
          <p:cNvSpPr/>
          <p:nvPr/>
        </p:nvSpPr>
        <p:spPr>
          <a:xfrm>
            <a:off x="0" y="0"/>
            <a:ext cx="3794760" cy="6601968"/>
          </a:xfrm>
          <a:prstGeom prst="rect">
            <a:avLst/>
          </a:prstGeom>
          <a:solidFill>
            <a:srgbClr val="0B2E63"/>
          </a:solidFill>
          <a:ln w="12700">
            <a:solidFill>
              <a:srgbClr val="0B2E63"/>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51560" y="1481328"/>
            <a:ext cx="1234440" cy="1234440"/>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95728" y="1847088"/>
            <a:ext cx="438912" cy="438912"/>
          </a:xfrm>
          <a:prstGeom prst="rect">
            <a:avLst/>
          </a:prstGeom>
        </p:spPr>
      </p:pic>
      <p:pic>
        <p:nvPicPr>
          <p:cNvPr id="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80360" y="1517904"/>
            <a:ext cx="658368" cy="658368"/>
          </a:xfrm>
          <a:prstGeom prst="rect">
            <a:avLst/>
          </a:prstGeom>
        </p:spPr>
      </p:pic>
      <p:pic>
        <p:nvPicPr>
          <p:cNvPr id="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07792" y="2340864"/>
            <a:ext cx="621792" cy="621792"/>
          </a:xfrm>
          <a:prstGeom prst="rect">
            <a:avLst/>
          </a:prstGeom>
        </p:spPr>
      </p:pic>
      <p:sp>
        <p:nvSpPr>
          <p:cNvPr id="8" name="Text 2"/>
          <p:cNvSpPr/>
          <p:nvPr/>
        </p:nvSpPr>
        <p:spPr>
          <a:xfrm>
            <a:off x="621792" y="3063240"/>
            <a:ext cx="2615184" cy="384048"/>
          </a:xfrm>
          <a:prstGeom prst="rect">
            <a:avLst/>
          </a:prstGeom>
          <a:noFill/>
          <a:ln/>
        </p:spPr>
        <p:txBody>
          <a:bodyPr wrap="square" lIns="0" tIns="0" rIns="0" bIns="0" rtlCol="0" anchor="ctr"/>
          <a:lstStyle/>
          <a:p>
            <a:pPr algn="ctr" indent="0" marL="0">
              <a:buNone/>
            </a:pPr>
            <a:r>
              <a:rPr lang="en-US" sz="2300" b="1" dirty="0">
                <a:solidFill>
                  <a:srgbClr val="FFFFFF"/>
                </a:solidFill>
              </a:rPr>
              <a:t>Employee + AI</a:t>
            </a:r>
            <a:endParaRPr lang="en-US" sz="2300" dirty="0"/>
          </a:p>
        </p:txBody>
      </p:sp>
      <p:sp>
        <p:nvSpPr>
          <p:cNvPr id="9" name="Text 3"/>
          <p:cNvSpPr/>
          <p:nvPr/>
        </p:nvSpPr>
        <p:spPr>
          <a:xfrm>
            <a:off x="621792" y="3547872"/>
            <a:ext cx="2615184" cy="676656"/>
          </a:xfrm>
          <a:prstGeom prst="rect">
            <a:avLst/>
          </a:prstGeom>
          <a:noFill/>
          <a:ln/>
        </p:spPr>
        <p:txBody>
          <a:bodyPr wrap="square" lIns="0" tIns="0" rIns="0" bIns="0" rtlCol="0" anchor="ctr"/>
          <a:lstStyle/>
          <a:p>
            <a:pPr algn="ctr" indent="0" marL="0">
              <a:buNone/>
            </a:pPr>
            <a:r>
              <a:rPr lang="en-US" sz="1600" dirty="0">
                <a:solidFill>
                  <a:srgbClr val="DCEBFA"/>
                </a:solidFill>
              </a:rPr>
              <a:t>More capacity.</a:t>
            </a:r>
            <a:endParaRPr lang="en-US" sz="1600" dirty="0"/>
          </a:p>
          <a:p>
            <a:pPr algn="ctr" indent="0" marL="0">
              <a:buNone/>
            </a:pPr>
            <a:r>
              <a:rPr lang="en-US" sz="1600" dirty="0">
                <a:solidFill>
                  <a:srgbClr val="DCEBFA"/>
                </a:solidFill>
              </a:rPr>
              <a:t>Same accountability.</a:t>
            </a:r>
            <a:endParaRPr lang="en-US" sz="1600" dirty="0"/>
          </a:p>
        </p:txBody>
      </p:sp>
      <p:sp>
        <p:nvSpPr>
          <p:cNvPr id="10" name="Text 4"/>
          <p:cNvSpPr/>
          <p:nvPr/>
        </p:nvSpPr>
        <p:spPr>
          <a:xfrm>
            <a:off x="4315968" y="1051560"/>
            <a:ext cx="7205472" cy="1481328"/>
          </a:xfrm>
          <a:prstGeom prst="rect">
            <a:avLst/>
          </a:prstGeom>
          <a:noFill/>
          <a:ln/>
        </p:spPr>
        <p:txBody>
          <a:bodyPr wrap="square" lIns="0" tIns="0" rIns="0" bIns="0" rtlCol="0" anchor="ctr">
            <a:normAutofit/>
          </a:bodyPr>
          <a:lstStyle/>
          <a:p>
            <a:pPr indent="0" marL="0">
              <a:buNone/>
            </a:pPr>
            <a:r>
              <a:rPr lang="en-US" sz="2900" b="1" dirty="0">
                <a:solidFill>
                  <a:srgbClr val="0B2E63"/>
                </a:solidFill>
                <a:latin typeface="Aptos Display" pitchFamily="34" charset="0"/>
                <a:ea typeface="Aptos Display" pitchFamily="34" charset="-122"/>
                <a:cs typeface="Aptos Display" pitchFamily="34" charset="-120"/>
              </a:rPr>
              <a:t>Agentic AI can increase employee capacity without removing human accountability.</a:t>
            </a:r>
            <a:endParaRPr lang="en-US" sz="2900" dirty="0"/>
          </a:p>
        </p:txBody>
      </p:sp>
      <p:sp>
        <p:nvSpPr>
          <p:cNvPr id="11" name="Text 5"/>
          <p:cNvSpPr/>
          <p:nvPr/>
        </p:nvSpPr>
        <p:spPr>
          <a:xfrm>
            <a:off x="4352544" y="2880360"/>
            <a:ext cx="6967728" cy="1417320"/>
          </a:xfrm>
          <a:prstGeom prst="rect">
            <a:avLst/>
          </a:prstGeom>
          <a:noFill/>
          <a:ln/>
        </p:spPr>
        <p:txBody>
          <a:bodyPr wrap="square" lIns="0" tIns="0" rIns="0" bIns="0" rtlCol="0" anchor="ctr">
            <a:normAutofit/>
          </a:bodyPr>
          <a:lstStyle/>
          <a:p>
            <a:pPr indent="0" marL="0">
              <a:buNone/>
            </a:pPr>
            <a:r>
              <a:rPr lang="en-US" sz="1700" dirty="0">
                <a:solidFill>
                  <a:srgbClr val="334155"/>
                </a:solidFill>
              </a:rPr>
              <a:t>A common card-decline issue can force a bank employee to jump across multiple systems, interpret transaction codes, check account status, find the right policy, and decide what to do next. AI can assemble the story and prepare the next step — while the employee remains responsible for the customer and the decision.</a:t>
            </a:r>
            <a:endParaRPr lang="en-US" sz="1700" dirty="0"/>
          </a:p>
        </p:txBody>
      </p:sp>
      <p:sp>
        <p:nvSpPr>
          <p:cNvPr id="12" name="Shape 6"/>
          <p:cNvSpPr/>
          <p:nvPr/>
        </p:nvSpPr>
        <p:spPr>
          <a:xfrm>
            <a:off x="4352544" y="4736592"/>
            <a:ext cx="6163056" cy="640080"/>
          </a:xfrm>
          <a:prstGeom prst="roundRect">
            <a:avLst>
              <a:gd name="adj" fmla="val 11429"/>
            </a:avLst>
          </a:prstGeom>
          <a:solidFill>
            <a:srgbClr val="E7F5EC"/>
          </a:solidFill>
          <a:ln w="12700">
            <a:solidFill>
              <a:srgbClr val="B9DEC7"/>
            </a:solidFill>
            <a:prstDash val="solid"/>
          </a:ln>
        </p:spPr>
      </p:sp>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0288" y="4928616"/>
            <a:ext cx="228600" cy="228600"/>
          </a:xfrm>
          <a:prstGeom prst="rect">
            <a:avLst/>
          </a:prstGeom>
        </p:spPr>
      </p:pic>
      <p:sp>
        <p:nvSpPr>
          <p:cNvPr id="14" name="Text 7"/>
          <p:cNvSpPr/>
          <p:nvPr/>
        </p:nvSpPr>
        <p:spPr>
          <a:xfrm>
            <a:off x="4956048" y="4892040"/>
            <a:ext cx="5230368" cy="228600"/>
          </a:xfrm>
          <a:prstGeom prst="rect">
            <a:avLst/>
          </a:prstGeom>
          <a:noFill/>
          <a:ln/>
        </p:spPr>
        <p:txBody>
          <a:bodyPr wrap="square" lIns="0" tIns="0" rIns="0" bIns="0" rtlCol="0" anchor="ctr">
            <a:normAutofit/>
          </a:bodyPr>
          <a:lstStyle/>
          <a:p>
            <a:pPr indent="0" marL="0">
              <a:buNone/>
            </a:pPr>
            <a:r>
              <a:rPr lang="en-US" sz="1500" b="1" dirty="0">
                <a:solidFill>
                  <a:srgbClr val="1B6038"/>
                </a:solidFill>
              </a:rPr>
              <a:t>The employee stays in control of consequential actions.</a:t>
            </a:r>
            <a:endParaRPr lang="en-US" sz="150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38912" y="347472"/>
            <a:ext cx="11247120" cy="502920"/>
          </a:xfrm>
          <a:prstGeom prst="rect">
            <a:avLst/>
          </a:prstGeom>
          <a:noFill/>
          <a:ln/>
        </p:spPr>
        <p:txBody>
          <a:bodyPr wrap="square" lIns="0" tIns="0" rIns="0" bIns="0" rtlCol="0" anchor="ctr">
            <a:normAutofit/>
          </a:bodyPr>
          <a:lstStyle/>
          <a:p>
            <a:pPr indent="0" marL="0">
              <a:buNone/>
            </a:pPr>
            <a:r>
              <a:rPr lang="en-US" sz="2700" b="1" dirty="0">
                <a:solidFill>
                  <a:srgbClr val="0B2E63"/>
                </a:solidFill>
                <a:latin typeface="Aptos Display" pitchFamily="34" charset="0"/>
                <a:ea typeface="Aptos Display" pitchFamily="34" charset="-122"/>
                <a:cs typeface="Aptos Display" pitchFamily="34" charset="-120"/>
              </a:rPr>
              <a:t>It starts with a very ordinary question</a:t>
            </a:r>
            <a:endParaRPr lang="en-US" sz="2700" dirty="0"/>
          </a:p>
        </p:txBody>
      </p:sp>
      <p:sp>
        <p:nvSpPr>
          <p:cNvPr id="3" name="Text 1"/>
          <p:cNvSpPr/>
          <p:nvPr/>
        </p:nvSpPr>
        <p:spPr>
          <a:xfrm>
            <a:off x="457200" y="896112"/>
            <a:ext cx="1097280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A customer only wants to know why a purchase did not go through.</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658368" y="1700784"/>
            <a:ext cx="3657600" cy="4187952"/>
          </a:xfrm>
          <a:prstGeom prst="roundRect">
            <a:avLst>
              <a:gd name="adj" fmla="val 2000"/>
            </a:avLst>
          </a:prstGeom>
          <a:solidFill>
            <a:srgbClr val="F1F6FC"/>
          </a:solidFill>
          <a:ln w="12700">
            <a:solidFill>
              <a:srgbClr val="C6D9F0"/>
            </a:solidFill>
            <a:prstDash val="solid"/>
          </a:ln>
          <a:effectLst>
            <a:outerShdw sx="100000" sy="100000" kx="0" ky="0" algn="bl" rotWithShape="0" blurRad="19050" dist="50800" dir="2700000">
              <a:srgbClr val="C8D4E3">
                <a:alpha val="14000"/>
              </a:srgbClr>
            </a:outerShdw>
          </a:effectLst>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0120" y="2103120"/>
            <a:ext cx="713232" cy="713232"/>
          </a:xfrm>
          <a:prstGeom prst="rect">
            <a:avLst/>
          </a:prstGeom>
        </p:spPr>
      </p:pic>
      <p:sp>
        <p:nvSpPr>
          <p:cNvPr id="7" name="Shape 4"/>
          <p:cNvSpPr/>
          <p:nvPr/>
        </p:nvSpPr>
        <p:spPr>
          <a:xfrm>
            <a:off x="1389888" y="1920240"/>
            <a:ext cx="2487168" cy="1298448"/>
          </a:xfrm>
          <a:prstGeom prst="roundRect">
            <a:avLst>
              <a:gd name="adj" fmla="val 5634"/>
            </a:avLst>
          </a:prstGeom>
          <a:solidFill>
            <a:srgbClr val="FFFFFF"/>
          </a:solidFill>
          <a:ln w="15240">
            <a:solidFill>
              <a:srgbClr val="BFD2EA"/>
            </a:solidFill>
            <a:prstDash val="solid"/>
          </a:ln>
        </p:spPr>
      </p:sp>
      <p:sp>
        <p:nvSpPr>
          <p:cNvPr id="8" name="Text 5"/>
          <p:cNvSpPr/>
          <p:nvPr/>
        </p:nvSpPr>
        <p:spPr>
          <a:xfrm>
            <a:off x="1581912" y="2258568"/>
            <a:ext cx="2121408" cy="585216"/>
          </a:xfrm>
          <a:prstGeom prst="rect">
            <a:avLst/>
          </a:prstGeom>
          <a:noFill/>
          <a:ln/>
        </p:spPr>
        <p:txBody>
          <a:bodyPr wrap="square" lIns="0" tIns="0" rIns="0" bIns="0" rtlCol="0" anchor="ctr">
            <a:normAutofit/>
          </a:bodyPr>
          <a:lstStyle/>
          <a:p>
            <a:pPr algn="ctr" indent="0" marL="0">
              <a:buNone/>
            </a:pPr>
            <a:r>
              <a:rPr lang="en-US" sz="2200" b="1" dirty="0">
                <a:solidFill>
                  <a:srgbClr val="0B2E63"/>
                </a:solidFill>
              </a:rPr>
              <a:t>“Why was my card declined?”</a:t>
            </a:r>
            <a:endParaRPr lang="en-US" sz="2200" dirty="0"/>
          </a:p>
        </p:txBody>
      </p:sp>
      <p:sp>
        <p:nvSpPr>
          <p:cNvPr id="9" name="Text 6"/>
          <p:cNvSpPr/>
          <p:nvPr/>
        </p:nvSpPr>
        <p:spPr>
          <a:xfrm>
            <a:off x="987552" y="3749040"/>
            <a:ext cx="3044952" cy="566928"/>
          </a:xfrm>
          <a:prstGeom prst="rect">
            <a:avLst/>
          </a:prstGeom>
          <a:noFill/>
          <a:ln/>
        </p:spPr>
        <p:txBody>
          <a:bodyPr wrap="square" lIns="0" tIns="0" rIns="0" bIns="0" rtlCol="0" anchor="ctr">
            <a:normAutofit/>
          </a:bodyPr>
          <a:lstStyle/>
          <a:p>
            <a:pPr algn="ctr" indent="0" marL="0">
              <a:buNone/>
            </a:pPr>
            <a:r>
              <a:rPr lang="en-US" sz="1700" dirty="0">
                <a:solidFill>
                  <a:srgbClr val="334155"/>
                </a:solidFill>
              </a:rPr>
              <a:t>To the customer, this is one simple problem.</a:t>
            </a:r>
            <a:endParaRPr lang="en-US" sz="1700" dirty="0"/>
          </a:p>
        </p:txBody>
      </p:sp>
      <p:sp>
        <p:nvSpPr>
          <p:cNvPr id="10" name="Text 7"/>
          <p:cNvSpPr/>
          <p:nvPr/>
        </p:nvSpPr>
        <p:spPr>
          <a:xfrm>
            <a:off x="987552" y="4599432"/>
            <a:ext cx="3044952" cy="384048"/>
          </a:xfrm>
          <a:prstGeom prst="rect">
            <a:avLst/>
          </a:prstGeom>
          <a:noFill/>
          <a:ln/>
        </p:spPr>
        <p:txBody>
          <a:bodyPr wrap="square" lIns="0" tIns="0" rIns="0" bIns="0" rtlCol="0" anchor="ctr"/>
          <a:lstStyle/>
          <a:p>
            <a:pPr algn="ctr" indent="0" marL="0">
              <a:buNone/>
            </a:pPr>
            <a:r>
              <a:rPr lang="en-US" sz="1600" b="1" dirty="0">
                <a:solidFill>
                  <a:srgbClr val="1E5AA8"/>
                </a:solidFill>
              </a:rPr>
              <a:t>They expect a clear answer — now.</a:t>
            </a:r>
            <a:endParaRPr lang="en-US" sz="1600" dirty="0"/>
          </a:p>
        </p:txBody>
      </p:sp>
      <p:sp>
        <p:nvSpPr>
          <p:cNvPr id="11" name="Text 8"/>
          <p:cNvSpPr/>
          <p:nvPr/>
        </p:nvSpPr>
        <p:spPr>
          <a:xfrm>
            <a:off x="4800600" y="1792224"/>
            <a:ext cx="6492240" cy="457200"/>
          </a:xfrm>
          <a:prstGeom prst="rect">
            <a:avLst/>
          </a:prstGeom>
          <a:noFill/>
          <a:ln/>
        </p:spPr>
        <p:txBody>
          <a:bodyPr wrap="square" lIns="0" tIns="0" rIns="0" bIns="0" rtlCol="0" anchor="ctr"/>
          <a:lstStyle/>
          <a:p>
            <a:pPr indent="0" marL="0">
              <a:buNone/>
            </a:pPr>
            <a:r>
              <a:rPr lang="en-US" sz="2000" b="1" dirty="0">
                <a:solidFill>
                  <a:srgbClr val="14213D"/>
                </a:solidFill>
              </a:rPr>
              <a:t>But the employee may need to build the answer piece by piece.</a:t>
            </a:r>
            <a:endParaRPr lang="en-US" sz="2000" dirty="0"/>
          </a:p>
        </p:txBody>
      </p:sp>
      <p:sp>
        <p:nvSpPr>
          <p:cNvPr id="12" name="Shape 9"/>
          <p:cNvSpPr/>
          <p:nvPr/>
        </p:nvSpPr>
        <p:spPr>
          <a:xfrm>
            <a:off x="4828032" y="2468880"/>
            <a:ext cx="6053328" cy="612648"/>
          </a:xfrm>
          <a:prstGeom prst="roundRect">
            <a:avLst>
              <a:gd name="adj" fmla="val 11940"/>
            </a:avLst>
          </a:prstGeom>
          <a:solidFill>
            <a:srgbClr val="FFFFFF"/>
          </a:solidFill>
          <a:ln w="12700">
            <a:solidFill>
              <a:srgbClr val="D9E2EF"/>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38344" y="2615184"/>
            <a:ext cx="274320" cy="274320"/>
          </a:xfrm>
          <a:prstGeom prst="rect">
            <a:avLst/>
          </a:prstGeom>
        </p:spPr>
      </p:pic>
      <p:sp>
        <p:nvSpPr>
          <p:cNvPr id="14" name="Text 10"/>
          <p:cNvSpPr/>
          <p:nvPr/>
        </p:nvSpPr>
        <p:spPr>
          <a:xfrm>
            <a:off x="5468112" y="2578608"/>
            <a:ext cx="1828800" cy="201168"/>
          </a:xfrm>
          <a:prstGeom prst="rect">
            <a:avLst/>
          </a:prstGeom>
          <a:noFill/>
          <a:ln/>
        </p:spPr>
        <p:txBody>
          <a:bodyPr wrap="square" lIns="0" tIns="0" rIns="0" bIns="0" rtlCol="0" anchor="ctr"/>
          <a:lstStyle/>
          <a:p>
            <a:pPr indent="0" marL="0">
              <a:buNone/>
            </a:pPr>
            <a:r>
              <a:rPr lang="en-US" sz="1450" b="1" dirty="0">
                <a:solidFill>
                  <a:srgbClr val="0B2E63"/>
                </a:solidFill>
              </a:rPr>
              <a:t>Card system</a:t>
            </a:r>
            <a:endParaRPr lang="en-US" sz="1450" dirty="0"/>
          </a:p>
        </p:txBody>
      </p:sp>
      <p:sp>
        <p:nvSpPr>
          <p:cNvPr id="15" name="Text 11"/>
          <p:cNvSpPr/>
          <p:nvPr/>
        </p:nvSpPr>
        <p:spPr>
          <a:xfrm>
            <a:off x="7360920" y="2578608"/>
            <a:ext cx="3200400" cy="228600"/>
          </a:xfrm>
          <a:prstGeom prst="rect">
            <a:avLst/>
          </a:prstGeom>
          <a:noFill/>
          <a:ln/>
        </p:spPr>
        <p:txBody>
          <a:bodyPr wrap="square" lIns="0" tIns="0" rIns="0" bIns="0" rtlCol="0" anchor="ctr">
            <a:normAutofit/>
          </a:bodyPr>
          <a:lstStyle/>
          <a:p>
            <a:pPr indent="0" marL="0">
              <a:buNone/>
            </a:pPr>
            <a:r>
              <a:rPr lang="en-US" sz="1330" dirty="0">
                <a:solidFill>
                  <a:srgbClr val="334155"/>
                </a:solidFill>
              </a:rPr>
              <a:t>Was the card active?</a:t>
            </a:r>
            <a:endParaRPr lang="en-US" sz="1330" dirty="0"/>
          </a:p>
        </p:txBody>
      </p:sp>
      <p:sp>
        <p:nvSpPr>
          <p:cNvPr id="16" name="Shape 12"/>
          <p:cNvSpPr/>
          <p:nvPr/>
        </p:nvSpPr>
        <p:spPr>
          <a:xfrm>
            <a:off x="4828032" y="3218688"/>
            <a:ext cx="6053328" cy="612648"/>
          </a:xfrm>
          <a:prstGeom prst="roundRect">
            <a:avLst>
              <a:gd name="adj" fmla="val 11940"/>
            </a:avLst>
          </a:prstGeom>
          <a:solidFill>
            <a:srgbClr val="FFFFFF"/>
          </a:solidFill>
          <a:ln w="12700">
            <a:solidFill>
              <a:srgbClr val="D9E2E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38344" y="3364992"/>
            <a:ext cx="274320" cy="274320"/>
          </a:xfrm>
          <a:prstGeom prst="rect">
            <a:avLst/>
          </a:prstGeom>
        </p:spPr>
      </p:pic>
      <p:sp>
        <p:nvSpPr>
          <p:cNvPr id="18" name="Text 13"/>
          <p:cNvSpPr/>
          <p:nvPr/>
        </p:nvSpPr>
        <p:spPr>
          <a:xfrm>
            <a:off x="5468112" y="3328416"/>
            <a:ext cx="1828800" cy="201168"/>
          </a:xfrm>
          <a:prstGeom prst="rect">
            <a:avLst/>
          </a:prstGeom>
          <a:noFill/>
          <a:ln/>
        </p:spPr>
        <p:txBody>
          <a:bodyPr wrap="square" lIns="0" tIns="0" rIns="0" bIns="0" rtlCol="0" anchor="ctr"/>
          <a:lstStyle/>
          <a:p>
            <a:pPr indent="0" marL="0">
              <a:buNone/>
            </a:pPr>
            <a:r>
              <a:rPr lang="en-US" sz="1450" b="1" dirty="0">
                <a:solidFill>
                  <a:srgbClr val="0B2E63"/>
                </a:solidFill>
              </a:rPr>
              <a:t>Transaction history</a:t>
            </a:r>
            <a:endParaRPr lang="en-US" sz="1450" dirty="0"/>
          </a:p>
        </p:txBody>
      </p:sp>
      <p:sp>
        <p:nvSpPr>
          <p:cNvPr id="19" name="Text 14"/>
          <p:cNvSpPr/>
          <p:nvPr/>
        </p:nvSpPr>
        <p:spPr>
          <a:xfrm>
            <a:off x="7360920" y="3328416"/>
            <a:ext cx="3200400" cy="228600"/>
          </a:xfrm>
          <a:prstGeom prst="rect">
            <a:avLst/>
          </a:prstGeom>
          <a:noFill/>
          <a:ln/>
        </p:spPr>
        <p:txBody>
          <a:bodyPr wrap="square" lIns="0" tIns="0" rIns="0" bIns="0" rtlCol="0" anchor="ctr">
            <a:normAutofit/>
          </a:bodyPr>
          <a:lstStyle/>
          <a:p>
            <a:pPr indent="0" marL="0">
              <a:buNone/>
            </a:pPr>
            <a:r>
              <a:rPr lang="en-US" sz="1330" dirty="0">
                <a:solidFill>
                  <a:srgbClr val="334155"/>
                </a:solidFill>
              </a:rPr>
              <a:t>What happened?</a:t>
            </a:r>
            <a:endParaRPr lang="en-US" sz="1330" dirty="0"/>
          </a:p>
        </p:txBody>
      </p:sp>
      <p:sp>
        <p:nvSpPr>
          <p:cNvPr id="20" name="Shape 15"/>
          <p:cNvSpPr/>
          <p:nvPr/>
        </p:nvSpPr>
        <p:spPr>
          <a:xfrm>
            <a:off x="4828032" y="3968496"/>
            <a:ext cx="6053328" cy="612648"/>
          </a:xfrm>
          <a:prstGeom prst="roundRect">
            <a:avLst>
              <a:gd name="adj" fmla="val 11940"/>
            </a:avLst>
          </a:prstGeom>
          <a:solidFill>
            <a:srgbClr val="FFFFFF"/>
          </a:solidFill>
          <a:ln w="12700">
            <a:solidFill>
              <a:srgbClr val="D9E2EF"/>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38344" y="4114800"/>
            <a:ext cx="274320" cy="274320"/>
          </a:xfrm>
          <a:prstGeom prst="rect">
            <a:avLst/>
          </a:prstGeom>
        </p:spPr>
      </p:pic>
      <p:sp>
        <p:nvSpPr>
          <p:cNvPr id="22" name="Text 16"/>
          <p:cNvSpPr/>
          <p:nvPr/>
        </p:nvSpPr>
        <p:spPr>
          <a:xfrm>
            <a:off x="5468112" y="4078224"/>
            <a:ext cx="1828800" cy="201168"/>
          </a:xfrm>
          <a:prstGeom prst="rect">
            <a:avLst/>
          </a:prstGeom>
          <a:noFill/>
          <a:ln/>
        </p:spPr>
        <p:txBody>
          <a:bodyPr wrap="square" lIns="0" tIns="0" rIns="0" bIns="0" rtlCol="0" anchor="ctr"/>
          <a:lstStyle/>
          <a:p>
            <a:pPr indent="0" marL="0">
              <a:buNone/>
            </a:pPr>
            <a:r>
              <a:rPr lang="en-US" sz="1450" b="1" dirty="0">
                <a:solidFill>
                  <a:srgbClr val="0B2E63"/>
                </a:solidFill>
              </a:rPr>
              <a:t>Fraud alert</a:t>
            </a:r>
            <a:endParaRPr lang="en-US" sz="1450" dirty="0"/>
          </a:p>
        </p:txBody>
      </p:sp>
      <p:sp>
        <p:nvSpPr>
          <p:cNvPr id="23" name="Text 17"/>
          <p:cNvSpPr/>
          <p:nvPr/>
        </p:nvSpPr>
        <p:spPr>
          <a:xfrm>
            <a:off x="7360920" y="4078224"/>
            <a:ext cx="3200400" cy="228600"/>
          </a:xfrm>
          <a:prstGeom prst="rect">
            <a:avLst/>
          </a:prstGeom>
          <a:noFill/>
          <a:ln/>
        </p:spPr>
        <p:txBody>
          <a:bodyPr wrap="square" lIns="0" tIns="0" rIns="0" bIns="0" rtlCol="0" anchor="ctr">
            <a:normAutofit/>
          </a:bodyPr>
          <a:lstStyle/>
          <a:p>
            <a:pPr indent="0" marL="0">
              <a:buNone/>
            </a:pPr>
            <a:r>
              <a:rPr lang="en-US" sz="1330" dirty="0">
                <a:solidFill>
                  <a:srgbClr val="334155"/>
                </a:solidFill>
              </a:rPr>
              <a:t>What triggered the block?</a:t>
            </a:r>
            <a:endParaRPr lang="en-US" sz="1330" dirty="0"/>
          </a:p>
        </p:txBody>
      </p:sp>
      <p:sp>
        <p:nvSpPr>
          <p:cNvPr id="24" name="Shape 18"/>
          <p:cNvSpPr/>
          <p:nvPr/>
        </p:nvSpPr>
        <p:spPr>
          <a:xfrm>
            <a:off x="4828032" y="4718304"/>
            <a:ext cx="6053328" cy="612648"/>
          </a:xfrm>
          <a:prstGeom prst="roundRect">
            <a:avLst>
              <a:gd name="adj" fmla="val 11940"/>
            </a:avLst>
          </a:prstGeom>
          <a:solidFill>
            <a:srgbClr val="FFFFFF"/>
          </a:solidFill>
          <a:ln w="12700">
            <a:solidFill>
              <a:srgbClr val="D9E2EF"/>
            </a:solidFill>
            <a:prstDash val="solid"/>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38344" y="4864608"/>
            <a:ext cx="274320" cy="274320"/>
          </a:xfrm>
          <a:prstGeom prst="rect">
            <a:avLst/>
          </a:prstGeom>
        </p:spPr>
      </p:pic>
      <p:sp>
        <p:nvSpPr>
          <p:cNvPr id="26" name="Text 19"/>
          <p:cNvSpPr/>
          <p:nvPr/>
        </p:nvSpPr>
        <p:spPr>
          <a:xfrm>
            <a:off x="5468112" y="4828032"/>
            <a:ext cx="1828800" cy="201168"/>
          </a:xfrm>
          <a:prstGeom prst="rect">
            <a:avLst/>
          </a:prstGeom>
          <a:noFill/>
          <a:ln/>
        </p:spPr>
        <p:txBody>
          <a:bodyPr wrap="square" lIns="0" tIns="0" rIns="0" bIns="0" rtlCol="0" anchor="ctr"/>
          <a:lstStyle/>
          <a:p>
            <a:pPr indent="0" marL="0">
              <a:buNone/>
            </a:pPr>
            <a:r>
              <a:rPr lang="en-US" sz="1450" b="1" dirty="0">
                <a:solidFill>
                  <a:srgbClr val="0B2E63"/>
                </a:solidFill>
              </a:rPr>
              <a:t>Bank procedure</a:t>
            </a:r>
            <a:endParaRPr lang="en-US" sz="1450" dirty="0"/>
          </a:p>
        </p:txBody>
      </p:sp>
      <p:sp>
        <p:nvSpPr>
          <p:cNvPr id="27" name="Text 20"/>
          <p:cNvSpPr/>
          <p:nvPr/>
        </p:nvSpPr>
        <p:spPr>
          <a:xfrm>
            <a:off x="7360920" y="4828032"/>
            <a:ext cx="3200400" cy="228600"/>
          </a:xfrm>
          <a:prstGeom prst="rect">
            <a:avLst/>
          </a:prstGeom>
          <a:noFill/>
          <a:ln/>
        </p:spPr>
        <p:txBody>
          <a:bodyPr wrap="square" lIns="0" tIns="0" rIns="0" bIns="0" rtlCol="0" anchor="ctr">
            <a:normAutofit/>
          </a:bodyPr>
          <a:lstStyle/>
          <a:p>
            <a:pPr indent="0" marL="0">
              <a:buNone/>
            </a:pPr>
            <a:r>
              <a:rPr lang="en-US" sz="1330" dirty="0">
                <a:solidFill>
                  <a:srgbClr val="334155"/>
                </a:solidFill>
              </a:rPr>
              <a:t>What should happen next?</a:t>
            </a:r>
            <a:endParaRPr lang="en-US" sz="1330" dirty="0"/>
          </a:p>
        </p:txBody>
      </p:sp>
      <p:sp>
        <p:nvSpPr>
          <p:cNvPr id="28" name="Shape 21"/>
          <p:cNvSpPr/>
          <p:nvPr/>
        </p:nvSpPr>
        <p:spPr>
          <a:xfrm>
            <a:off x="4828032" y="5577840"/>
            <a:ext cx="6053328" cy="502920"/>
          </a:xfrm>
          <a:prstGeom prst="roundRect">
            <a:avLst>
              <a:gd name="adj" fmla="val 14545"/>
            </a:avLst>
          </a:prstGeom>
          <a:solidFill>
            <a:srgbClr val="FFF4D8"/>
          </a:solidFill>
          <a:ln w="12700">
            <a:solidFill>
              <a:srgbClr val="F0D58A"/>
            </a:solidFill>
            <a:prstDash val="solid"/>
          </a:ln>
        </p:spPr>
      </p:sp>
      <p:sp>
        <p:nvSpPr>
          <p:cNvPr id="29" name="Text 22"/>
          <p:cNvSpPr/>
          <p:nvPr/>
        </p:nvSpPr>
        <p:spPr>
          <a:xfrm>
            <a:off x="5074920" y="5733288"/>
            <a:ext cx="5559552" cy="182880"/>
          </a:xfrm>
          <a:prstGeom prst="rect">
            <a:avLst/>
          </a:prstGeom>
          <a:noFill/>
          <a:ln/>
        </p:spPr>
        <p:txBody>
          <a:bodyPr wrap="square" lIns="0" tIns="0" rIns="0" bIns="0" rtlCol="0" anchor="ctr">
            <a:normAutofit/>
          </a:bodyPr>
          <a:lstStyle/>
          <a:p>
            <a:pPr algn="ctr" indent="0" marL="0">
              <a:buNone/>
            </a:pPr>
            <a:r>
              <a:rPr lang="en-US" sz="1400" b="1" dirty="0">
                <a:solidFill>
                  <a:srgbClr val="7A5716"/>
                </a:solidFill>
              </a:rPr>
              <a:t>A simple customer question can become a complicated employee investigation.</a:t>
            </a:r>
            <a:endParaRPr lang="en-US" sz="140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38912" y="347472"/>
            <a:ext cx="11247120" cy="502920"/>
          </a:xfrm>
          <a:prstGeom prst="rect">
            <a:avLst/>
          </a:prstGeom>
          <a:noFill/>
          <a:ln/>
        </p:spPr>
        <p:txBody>
          <a:bodyPr wrap="square" lIns="0" tIns="0" rIns="0" bIns="0" rtlCol="0" anchor="ctr">
            <a:normAutofit/>
          </a:bodyPr>
          <a:lstStyle/>
          <a:p>
            <a:pPr indent="0" marL="0">
              <a:buNone/>
            </a:pPr>
            <a:r>
              <a:rPr lang="en-US" sz="2700" b="1" dirty="0">
                <a:solidFill>
                  <a:srgbClr val="0B2E63"/>
                </a:solidFill>
                <a:latin typeface="Aptos Display" pitchFamily="34" charset="0"/>
                <a:ea typeface="Aptos Display" pitchFamily="34" charset="-122"/>
                <a:cs typeface="Aptos Display" pitchFamily="34" charset="-120"/>
              </a:rPr>
              <a:t>What makes the job hard today?</a:t>
            </a:r>
            <a:endParaRPr lang="en-US" sz="2700" dirty="0"/>
          </a:p>
        </p:txBody>
      </p:sp>
      <p:sp>
        <p:nvSpPr>
          <p:cNvPr id="3" name="Text 1"/>
          <p:cNvSpPr/>
          <p:nvPr/>
        </p:nvSpPr>
        <p:spPr>
          <a:xfrm>
            <a:off x="457200" y="896112"/>
            <a:ext cx="1097280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The problem is not a lack of effort — it is the amount of searching and interpretation.</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658368" y="1764792"/>
            <a:ext cx="5102352" cy="1444752"/>
          </a:xfrm>
          <a:prstGeom prst="roundRect">
            <a:avLst>
              <a:gd name="adj" fmla="val 5063"/>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6" name="Shape 4"/>
          <p:cNvSpPr/>
          <p:nvPr/>
        </p:nvSpPr>
        <p:spPr>
          <a:xfrm>
            <a:off x="932688" y="2057400"/>
            <a:ext cx="713232" cy="713232"/>
          </a:xfrm>
          <a:prstGeom prst="ellipse">
            <a:avLst/>
          </a:prstGeom>
          <a:solidFill>
            <a:srgbClr val="EAF2FB"/>
          </a:solidFill>
          <a:ln w="12700">
            <a:solidFill>
              <a:srgbClr val="C6D9F0"/>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6424" y="2221992"/>
            <a:ext cx="365760" cy="365760"/>
          </a:xfrm>
          <a:prstGeom prst="rect">
            <a:avLst/>
          </a:prstGeom>
        </p:spPr>
      </p:pic>
      <p:sp>
        <p:nvSpPr>
          <p:cNvPr id="8" name="Text 5"/>
          <p:cNvSpPr/>
          <p:nvPr/>
        </p:nvSpPr>
        <p:spPr>
          <a:xfrm>
            <a:off x="1847088" y="2020824"/>
            <a:ext cx="3529584" cy="292608"/>
          </a:xfrm>
          <a:prstGeom prst="rect">
            <a:avLst/>
          </a:prstGeom>
          <a:noFill/>
          <a:ln/>
        </p:spPr>
        <p:txBody>
          <a:bodyPr wrap="square" lIns="0" tIns="0" rIns="0" bIns="0" rtlCol="0" anchor="ctr">
            <a:normAutofit/>
          </a:bodyPr>
          <a:lstStyle/>
          <a:p>
            <a:pPr indent="0" marL="0">
              <a:buNone/>
            </a:pPr>
            <a:r>
              <a:rPr lang="en-US" sz="1800" b="1" dirty="0">
                <a:solidFill>
                  <a:srgbClr val="0B2E63"/>
                </a:solidFill>
              </a:rPr>
              <a:t>Too many places to look</a:t>
            </a:r>
            <a:endParaRPr lang="en-US" sz="1800" dirty="0"/>
          </a:p>
        </p:txBody>
      </p:sp>
      <p:sp>
        <p:nvSpPr>
          <p:cNvPr id="9" name="Text 6"/>
          <p:cNvSpPr/>
          <p:nvPr/>
        </p:nvSpPr>
        <p:spPr>
          <a:xfrm>
            <a:off x="1847088" y="2441448"/>
            <a:ext cx="3456432" cy="475488"/>
          </a:xfrm>
          <a:prstGeom prst="rect">
            <a:avLst/>
          </a:prstGeom>
          <a:noFill/>
          <a:ln/>
        </p:spPr>
        <p:txBody>
          <a:bodyPr wrap="square" lIns="0" tIns="0" rIns="0" bIns="0" rtlCol="0" anchor="ctr">
            <a:normAutofit/>
          </a:bodyPr>
          <a:lstStyle/>
          <a:p>
            <a:pPr indent="0" marL="0">
              <a:buNone/>
            </a:pPr>
            <a:r>
              <a:rPr lang="en-US" sz="1370" dirty="0">
                <a:solidFill>
                  <a:srgbClr val="334155"/>
                </a:solidFill>
              </a:rPr>
              <a:t>The employee jumps between systems to piece together the story.</a:t>
            </a:r>
            <a:endParaRPr lang="en-US" sz="1370" dirty="0"/>
          </a:p>
        </p:txBody>
      </p:sp>
      <p:sp>
        <p:nvSpPr>
          <p:cNvPr id="10" name="Shape 7"/>
          <p:cNvSpPr/>
          <p:nvPr/>
        </p:nvSpPr>
        <p:spPr>
          <a:xfrm>
            <a:off x="6236208" y="1764792"/>
            <a:ext cx="5102352" cy="1444752"/>
          </a:xfrm>
          <a:prstGeom prst="roundRect">
            <a:avLst>
              <a:gd name="adj" fmla="val 5063"/>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11" name="Shape 8"/>
          <p:cNvSpPr/>
          <p:nvPr/>
        </p:nvSpPr>
        <p:spPr>
          <a:xfrm>
            <a:off x="6510528" y="2057400"/>
            <a:ext cx="713232" cy="713232"/>
          </a:xfrm>
          <a:prstGeom prst="ellipse">
            <a:avLst/>
          </a:prstGeom>
          <a:solidFill>
            <a:srgbClr val="EAF2FB"/>
          </a:solidFill>
          <a:ln w="12700">
            <a:solidFill>
              <a:srgbClr val="C6D9F0"/>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84264" y="2221992"/>
            <a:ext cx="365760" cy="365760"/>
          </a:xfrm>
          <a:prstGeom prst="rect">
            <a:avLst/>
          </a:prstGeom>
        </p:spPr>
      </p:pic>
      <p:sp>
        <p:nvSpPr>
          <p:cNvPr id="13" name="Text 9"/>
          <p:cNvSpPr/>
          <p:nvPr/>
        </p:nvSpPr>
        <p:spPr>
          <a:xfrm>
            <a:off x="7424928" y="2020824"/>
            <a:ext cx="3529584" cy="292608"/>
          </a:xfrm>
          <a:prstGeom prst="rect">
            <a:avLst/>
          </a:prstGeom>
          <a:noFill/>
          <a:ln/>
        </p:spPr>
        <p:txBody>
          <a:bodyPr wrap="square" lIns="0" tIns="0" rIns="0" bIns="0" rtlCol="0" anchor="ctr">
            <a:normAutofit/>
          </a:bodyPr>
          <a:lstStyle/>
          <a:p>
            <a:pPr indent="0" marL="0">
              <a:buNone/>
            </a:pPr>
            <a:r>
              <a:rPr lang="en-US" sz="1800" b="1" dirty="0">
                <a:solidFill>
                  <a:srgbClr val="0B2E63"/>
                </a:solidFill>
              </a:rPr>
              <a:t>Hard-to-read codes</a:t>
            </a:r>
            <a:endParaRPr lang="en-US" sz="1800" dirty="0"/>
          </a:p>
        </p:txBody>
      </p:sp>
      <p:sp>
        <p:nvSpPr>
          <p:cNvPr id="14" name="Text 10"/>
          <p:cNvSpPr/>
          <p:nvPr/>
        </p:nvSpPr>
        <p:spPr>
          <a:xfrm>
            <a:off x="7424928" y="2441448"/>
            <a:ext cx="3456432" cy="475488"/>
          </a:xfrm>
          <a:prstGeom prst="rect">
            <a:avLst/>
          </a:prstGeom>
          <a:noFill/>
          <a:ln/>
        </p:spPr>
        <p:txBody>
          <a:bodyPr wrap="square" lIns="0" tIns="0" rIns="0" bIns="0" rtlCol="0" anchor="ctr">
            <a:normAutofit/>
          </a:bodyPr>
          <a:lstStyle/>
          <a:p>
            <a:pPr indent="0" marL="0">
              <a:buNone/>
            </a:pPr>
            <a:r>
              <a:rPr lang="en-US" sz="1370" dirty="0">
                <a:solidFill>
                  <a:srgbClr val="334155"/>
                </a:solidFill>
              </a:rPr>
              <a:t>Decline and fraud codes often need interpretation.</a:t>
            </a:r>
            <a:endParaRPr lang="en-US" sz="1370" dirty="0"/>
          </a:p>
        </p:txBody>
      </p:sp>
      <p:sp>
        <p:nvSpPr>
          <p:cNvPr id="15" name="Shape 11"/>
          <p:cNvSpPr/>
          <p:nvPr/>
        </p:nvSpPr>
        <p:spPr>
          <a:xfrm>
            <a:off x="658368" y="3621024"/>
            <a:ext cx="5102352" cy="1444752"/>
          </a:xfrm>
          <a:prstGeom prst="roundRect">
            <a:avLst>
              <a:gd name="adj" fmla="val 5063"/>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16" name="Shape 12"/>
          <p:cNvSpPr/>
          <p:nvPr/>
        </p:nvSpPr>
        <p:spPr>
          <a:xfrm>
            <a:off x="932688" y="3913632"/>
            <a:ext cx="713232" cy="713232"/>
          </a:xfrm>
          <a:prstGeom prst="ellipse">
            <a:avLst/>
          </a:prstGeom>
          <a:solidFill>
            <a:srgbClr val="EAF2FB"/>
          </a:solidFill>
          <a:ln w="12700">
            <a:solidFill>
              <a:srgbClr val="C6D9F0"/>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6424" y="4078224"/>
            <a:ext cx="365760" cy="365760"/>
          </a:xfrm>
          <a:prstGeom prst="rect">
            <a:avLst/>
          </a:prstGeom>
        </p:spPr>
      </p:pic>
      <p:sp>
        <p:nvSpPr>
          <p:cNvPr id="18" name="Text 13"/>
          <p:cNvSpPr/>
          <p:nvPr/>
        </p:nvSpPr>
        <p:spPr>
          <a:xfrm>
            <a:off x="1847088" y="3877056"/>
            <a:ext cx="3529584" cy="292608"/>
          </a:xfrm>
          <a:prstGeom prst="rect">
            <a:avLst/>
          </a:prstGeom>
          <a:noFill/>
          <a:ln/>
        </p:spPr>
        <p:txBody>
          <a:bodyPr wrap="square" lIns="0" tIns="0" rIns="0" bIns="0" rtlCol="0" anchor="ctr">
            <a:normAutofit/>
          </a:bodyPr>
          <a:lstStyle/>
          <a:p>
            <a:pPr indent="0" marL="0">
              <a:buNone/>
            </a:pPr>
            <a:r>
              <a:rPr lang="en-US" sz="1800" b="1" dirty="0">
                <a:solidFill>
                  <a:srgbClr val="0B2E63"/>
                </a:solidFill>
              </a:rPr>
              <a:t>Policy lookup</a:t>
            </a:r>
            <a:endParaRPr lang="en-US" sz="1800" dirty="0"/>
          </a:p>
        </p:txBody>
      </p:sp>
      <p:sp>
        <p:nvSpPr>
          <p:cNvPr id="19" name="Text 14"/>
          <p:cNvSpPr/>
          <p:nvPr/>
        </p:nvSpPr>
        <p:spPr>
          <a:xfrm>
            <a:off x="1847088" y="4297680"/>
            <a:ext cx="3456432" cy="475488"/>
          </a:xfrm>
          <a:prstGeom prst="rect">
            <a:avLst/>
          </a:prstGeom>
          <a:noFill/>
          <a:ln/>
        </p:spPr>
        <p:txBody>
          <a:bodyPr wrap="square" lIns="0" tIns="0" rIns="0" bIns="0" rtlCol="0" anchor="ctr">
            <a:normAutofit/>
          </a:bodyPr>
          <a:lstStyle/>
          <a:p>
            <a:pPr indent="0" marL="0">
              <a:buNone/>
            </a:pPr>
            <a:r>
              <a:rPr lang="en-US" sz="1370" dirty="0">
                <a:solidFill>
                  <a:srgbClr val="334155"/>
                </a:solidFill>
              </a:rPr>
              <a:t>The employee still has to find the right procedure.</a:t>
            </a:r>
            <a:endParaRPr lang="en-US" sz="1370" dirty="0"/>
          </a:p>
        </p:txBody>
      </p:sp>
      <p:sp>
        <p:nvSpPr>
          <p:cNvPr id="20" name="Shape 15"/>
          <p:cNvSpPr/>
          <p:nvPr/>
        </p:nvSpPr>
        <p:spPr>
          <a:xfrm>
            <a:off x="6236208" y="3621024"/>
            <a:ext cx="5102352" cy="1444752"/>
          </a:xfrm>
          <a:prstGeom prst="roundRect">
            <a:avLst>
              <a:gd name="adj" fmla="val 5063"/>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21" name="Shape 16"/>
          <p:cNvSpPr/>
          <p:nvPr/>
        </p:nvSpPr>
        <p:spPr>
          <a:xfrm>
            <a:off x="6510528" y="3913632"/>
            <a:ext cx="713232" cy="713232"/>
          </a:xfrm>
          <a:prstGeom prst="ellipse">
            <a:avLst/>
          </a:prstGeom>
          <a:solidFill>
            <a:srgbClr val="EAF2FB"/>
          </a:solidFill>
          <a:ln w="12700">
            <a:solidFill>
              <a:srgbClr val="C6D9F0"/>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84264" y="4078224"/>
            <a:ext cx="365760" cy="365760"/>
          </a:xfrm>
          <a:prstGeom prst="rect">
            <a:avLst/>
          </a:prstGeom>
        </p:spPr>
      </p:pic>
      <p:sp>
        <p:nvSpPr>
          <p:cNvPr id="23" name="Text 17"/>
          <p:cNvSpPr/>
          <p:nvPr/>
        </p:nvSpPr>
        <p:spPr>
          <a:xfrm>
            <a:off x="7424928" y="3877056"/>
            <a:ext cx="3529584" cy="292608"/>
          </a:xfrm>
          <a:prstGeom prst="rect">
            <a:avLst/>
          </a:prstGeom>
          <a:noFill/>
          <a:ln/>
        </p:spPr>
        <p:txBody>
          <a:bodyPr wrap="square" lIns="0" tIns="0" rIns="0" bIns="0" rtlCol="0" anchor="ctr">
            <a:normAutofit/>
          </a:bodyPr>
          <a:lstStyle/>
          <a:p>
            <a:pPr indent="0" marL="0">
              <a:buNone/>
            </a:pPr>
            <a:r>
              <a:rPr lang="en-US" sz="1800" b="1" dirty="0">
                <a:solidFill>
                  <a:srgbClr val="0B2E63"/>
                </a:solidFill>
              </a:rPr>
              <a:t>Customer waiting</a:t>
            </a:r>
            <a:endParaRPr lang="en-US" sz="1800" dirty="0"/>
          </a:p>
        </p:txBody>
      </p:sp>
      <p:sp>
        <p:nvSpPr>
          <p:cNvPr id="24" name="Text 18"/>
          <p:cNvSpPr/>
          <p:nvPr/>
        </p:nvSpPr>
        <p:spPr>
          <a:xfrm>
            <a:off x="7424928" y="4297680"/>
            <a:ext cx="3456432" cy="475488"/>
          </a:xfrm>
          <a:prstGeom prst="rect">
            <a:avLst/>
          </a:prstGeom>
          <a:noFill/>
          <a:ln/>
        </p:spPr>
        <p:txBody>
          <a:bodyPr wrap="square" lIns="0" tIns="0" rIns="0" bIns="0" rtlCol="0" anchor="ctr">
            <a:normAutofit/>
          </a:bodyPr>
          <a:lstStyle/>
          <a:p>
            <a:pPr indent="0" marL="0">
              <a:buNone/>
            </a:pPr>
            <a:r>
              <a:rPr lang="en-US" sz="1370" dirty="0">
                <a:solidFill>
                  <a:srgbClr val="334155"/>
                </a:solidFill>
              </a:rPr>
              <a:t>All of this happens during a live conversation.</a:t>
            </a:r>
            <a:endParaRPr lang="en-US" sz="1370" dirty="0"/>
          </a:p>
        </p:txBody>
      </p:sp>
      <p:sp>
        <p:nvSpPr>
          <p:cNvPr id="25" name="Text 19"/>
          <p:cNvSpPr/>
          <p:nvPr/>
        </p:nvSpPr>
        <p:spPr>
          <a:xfrm>
            <a:off x="960120" y="5623560"/>
            <a:ext cx="10195560" cy="438912"/>
          </a:xfrm>
          <a:prstGeom prst="rect">
            <a:avLst/>
          </a:prstGeom>
          <a:noFill/>
          <a:ln/>
        </p:spPr>
        <p:txBody>
          <a:bodyPr wrap="square" lIns="0" tIns="0" rIns="0" bIns="0" rtlCol="0" anchor="ctr">
            <a:normAutofit/>
          </a:bodyPr>
          <a:lstStyle/>
          <a:p>
            <a:pPr algn="ctr" indent="0" marL="0">
              <a:buNone/>
            </a:pPr>
            <a:r>
              <a:rPr lang="en-US" sz="2000" b="1" dirty="0">
                <a:solidFill>
                  <a:srgbClr val="0B2E63"/>
                </a:solidFill>
              </a:rPr>
              <a:t>The employee spends valuable time finding information instead of helping the customer.</a:t>
            </a:r>
            <a:endParaRPr lang="en-US" sz="200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38912" y="347472"/>
            <a:ext cx="11247120" cy="502920"/>
          </a:xfrm>
          <a:prstGeom prst="rect">
            <a:avLst/>
          </a:prstGeom>
          <a:noFill/>
          <a:ln/>
        </p:spPr>
        <p:txBody>
          <a:bodyPr wrap="square" lIns="0" tIns="0" rIns="0" bIns="0" rtlCol="0" anchor="ctr">
            <a:normAutofit/>
          </a:bodyPr>
          <a:lstStyle/>
          <a:p>
            <a:pPr indent="0" marL="0">
              <a:buNone/>
            </a:pPr>
            <a:r>
              <a:rPr lang="en-US" sz="2700" b="1" dirty="0">
                <a:solidFill>
                  <a:srgbClr val="0B2E63"/>
                </a:solidFill>
                <a:latin typeface="Aptos Display" pitchFamily="34" charset="0"/>
                <a:ea typeface="Aptos Display" pitchFamily="34" charset="-122"/>
                <a:cs typeface="Aptos Display" pitchFamily="34" charset="-120"/>
              </a:rPr>
              <a:t>What if the employee had the full story in seconds?</a:t>
            </a:r>
            <a:endParaRPr lang="en-US" sz="2700" dirty="0"/>
          </a:p>
        </p:txBody>
      </p:sp>
      <p:sp>
        <p:nvSpPr>
          <p:cNvPr id="3" name="Text 1"/>
          <p:cNvSpPr/>
          <p:nvPr/>
        </p:nvSpPr>
        <p:spPr>
          <a:xfrm>
            <a:off x="457200" y="896112"/>
            <a:ext cx="1097280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AI does the searching and organizing. The employee focuses on the customer.</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658368" y="1901952"/>
            <a:ext cx="2240280" cy="1280160"/>
          </a:xfrm>
          <a:prstGeom prst="roundRect">
            <a:avLst>
              <a:gd name="adj" fmla="val 5714"/>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2960" y="2130552"/>
            <a:ext cx="420624" cy="420624"/>
          </a:xfrm>
          <a:prstGeom prst="rect">
            <a:avLst/>
          </a:prstGeom>
        </p:spPr>
      </p:pic>
      <p:sp>
        <p:nvSpPr>
          <p:cNvPr id="7" name="Text 4"/>
          <p:cNvSpPr/>
          <p:nvPr/>
        </p:nvSpPr>
        <p:spPr>
          <a:xfrm>
            <a:off x="1371600" y="2093976"/>
            <a:ext cx="1325880" cy="256032"/>
          </a:xfrm>
          <a:prstGeom prst="rect">
            <a:avLst/>
          </a:prstGeom>
          <a:noFill/>
          <a:ln/>
        </p:spPr>
        <p:txBody>
          <a:bodyPr wrap="square" lIns="0" tIns="0" rIns="0" bIns="0" rtlCol="0" anchor="ctr"/>
          <a:lstStyle/>
          <a:p>
            <a:pPr indent="0" marL="0">
              <a:buNone/>
            </a:pPr>
            <a:r>
              <a:rPr lang="en-US" sz="1600" b="1" dirty="0">
                <a:solidFill>
                  <a:srgbClr val="0B2E63"/>
                </a:solidFill>
              </a:rPr>
              <a:t>Transaction</a:t>
            </a:r>
            <a:endParaRPr lang="en-US" sz="1600" dirty="0"/>
          </a:p>
        </p:txBody>
      </p:sp>
      <p:sp>
        <p:nvSpPr>
          <p:cNvPr id="8" name="Text 5"/>
          <p:cNvSpPr/>
          <p:nvPr/>
        </p:nvSpPr>
        <p:spPr>
          <a:xfrm>
            <a:off x="822960" y="2651760"/>
            <a:ext cx="1874520" cy="310896"/>
          </a:xfrm>
          <a:prstGeom prst="rect">
            <a:avLst/>
          </a:prstGeom>
          <a:noFill/>
          <a:ln/>
        </p:spPr>
        <p:txBody>
          <a:bodyPr wrap="square" lIns="0" tIns="0" rIns="0" bIns="0" rtlCol="0" anchor="ctr">
            <a:normAutofit/>
          </a:bodyPr>
          <a:lstStyle/>
          <a:p>
            <a:pPr algn="ctr" indent="0" marL="0">
              <a:buNone/>
            </a:pPr>
            <a:r>
              <a:rPr lang="en-US" sz="1250" dirty="0">
                <a:solidFill>
                  <a:srgbClr val="334155"/>
                </a:solidFill>
              </a:rPr>
              <a:t>What happened?</a:t>
            </a:r>
            <a:endParaRPr lang="en-US" sz="1250" dirty="0"/>
          </a:p>
        </p:txBody>
      </p:sp>
      <p:sp>
        <p:nvSpPr>
          <p:cNvPr id="9" name="Shape 6"/>
          <p:cNvSpPr/>
          <p:nvPr/>
        </p:nvSpPr>
        <p:spPr>
          <a:xfrm>
            <a:off x="658368" y="3858768"/>
            <a:ext cx="2240280" cy="1280160"/>
          </a:xfrm>
          <a:prstGeom prst="roundRect">
            <a:avLst>
              <a:gd name="adj" fmla="val 5714"/>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4087368"/>
            <a:ext cx="420624" cy="420624"/>
          </a:xfrm>
          <a:prstGeom prst="rect">
            <a:avLst/>
          </a:prstGeom>
        </p:spPr>
      </p:pic>
      <p:sp>
        <p:nvSpPr>
          <p:cNvPr id="11" name="Text 7"/>
          <p:cNvSpPr/>
          <p:nvPr/>
        </p:nvSpPr>
        <p:spPr>
          <a:xfrm>
            <a:off x="1371600" y="4050792"/>
            <a:ext cx="1325880" cy="256032"/>
          </a:xfrm>
          <a:prstGeom prst="rect">
            <a:avLst/>
          </a:prstGeom>
          <a:noFill/>
          <a:ln/>
        </p:spPr>
        <p:txBody>
          <a:bodyPr wrap="square" lIns="0" tIns="0" rIns="0" bIns="0" rtlCol="0" anchor="ctr"/>
          <a:lstStyle/>
          <a:p>
            <a:pPr indent="0" marL="0">
              <a:buNone/>
            </a:pPr>
            <a:r>
              <a:rPr lang="en-US" sz="1600" b="1" dirty="0">
                <a:solidFill>
                  <a:srgbClr val="0B2E63"/>
                </a:solidFill>
              </a:rPr>
              <a:t>Customer</a:t>
            </a:r>
            <a:endParaRPr lang="en-US" sz="1600" dirty="0"/>
          </a:p>
        </p:txBody>
      </p:sp>
      <p:sp>
        <p:nvSpPr>
          <p:cNvPr id="12" name="Text 8"/>
          <p:cNvSpPr/>
          <p:nvPr/>
        </p:nvSpPr>
        <p:spPr>
          <a:xfrm>
            <a:off x="822960" y="4608576"/>
            <a:ext cx="1874520" cy="310896"/>
          </a:xfrm>
          <a:prstGeom prst="rect">
            <a:avLst/>
          </a:prstGeom>
          <a:noFill/>
          <a:ln/>
        </p:spPr>
        <p:txBody>
          <a:bodyPr wrap="square" lIns="0" tIns="0" rIns="0" bIns="0" rtlCol="0" anchor="ctr">
            <a:normAutofit/>
          </a:bodyPr>
          <a:lstStyle/>
          <a:p>
            <a:pPr algn="ctr" indent="0" marL="0">
              <a:buNone/>
            </a:pPr>
            <a:r>
              <a:rPr lang="en-US" sz="1250" dirty="0">
                <a:solidFill>
                  <a:srgbClr val="334155"/>
                </a:solidFill>
              </a:rPr>
              <a:t>What is the account context?</a:t>
            </a:r>
            <a:endParaRPr lang="en-US" sz="1250" dirty="0"/>
          </a:p>
        </p:txBody>
      </p:sp>
      <p:sp>
        <p:nvSpPr>
          <p:cNvPr id="13" name="Shape 9"/>
          <p:cNvSpPr/>
          <p:nvPr/>
        </p:nvSpPr>
        <p:spPr>
          <a:xfrm>
            <a:off x="9308592" y="1901952"/>
            <a:ext cx="2240280" cy="1280160"/>
          </a:xfrm>
          <a:prstGeom prst="roundRect">
            <a:avLst>
              <a:gd name="adj" fmla="val 5714"/>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73184" y="2130552"/>
            <a:ext cx="420624" cy="420624"/>
          </a:xfrm>
          <a:prstGeom prst="rect">
            <a:avLst/>
          </a:prstGeom>
        </p:spPr>
      </p:pic>
      <p:sp>
        <p:nvSpPr>
          <p:cNvPr id="15" name="Text 10"/>
          <p:cNvSpPr/>
          <p:nvPr/>
        </p:nvSpPr>
        <p:spPr>
          <a:xfrm>
            <a:off x="10021824" y="2093976"/>
            <a:ext cx="1325880" cy="256032"/>
          </a:xfrm>
          <a:prstGeom prst="rect">
            <a:avLst/>
          </a:prstGeom>
          <a:noFill/>
          <a:ln/>
        </p:spPr>
        <p:txBody>
          <a:bodyPr wrap="square" lIns="0" tIns="0" rIns="0" bIns="0" rtlCol="0" anchor="ctr"/>
          <a:lstStyle/>
          <a:p>
            <a:pPr indent="0" marL="0">
              <a:buNone/>
            </a:pPr>
            <a:r>
              <a:rPr lang="en-US" sz="1600" b="1" dirty="0">
                <a:solidFill>
                  <a:srgbClr val="0B2E63"/>
                </a:solidFill>
              </a:rPr>
              <a:t>Alert</a:t>
            </a:r>
            <a:endParaRPr lang="en-US" sz="1600" dirty="0"/>
          </a:p>
        </p:txBody>
      </p:sp>
      <p:sp>
        <p:nvSpPr>
          <p:cNvPr id="16" name="Text 11"/>
          <p:cNvSpPr/>
          <p:nvPr/>
        </p:nvSpPr>
        <p:spPr>
          <a:xfrm>
            <a:off x="9473184" y="2651760"/>
            <a:ext cx="1874520" cy="310896"/>
          </a:xfrm>
          <a:prstGeom prst="rect">
            <a:avLst/>
          </a:prstGeom>
          <a:noFill/>
          <a:ln/>
        </p:spPr>
        <p:txBody>
          <a:bodyPr wrap="square" lIns="0" tIns="0" rIns="0" bIns="0" rtlCol="0" anchor="ctr">
            <a:normAutofit/>
          </a:bodyPr>
          <a:lstStyle/>
          <a:p>
            <a:pPr algn="ctr" indent="0" marL="0">
              <a:buNone/>
            </a:pPr>
            <a:r>
              <a:rPr lang="en-US" sz="1250" dirty="0">
                <a:solidFill>
                  <a:srgbClr val="334155"/>
                </a:solidFill>
              </a:rPr>
              <a:t>What triggered the block?</a:t>
            </a:r>
            <a:endParaRPr lang="en-US" sz="1250" dirty="0"/>
          </a:p>
        </p:txBody>
      </p:sp>
      <p:sp>
        <p:nvSpPr>
          <p:cNvPr id="17" name="Shape 12"/>
          <p:cNvSpPr/>
          <p:nvPr/>
        </p:nvSpPr>
        <p:spPr>
          <a:xfrm>
            <a:off x="9308592" y="3858768"/>
            <a:ext cx="2240280" cy="1280160"/>
          </a:xfrm>
          <a:prstGeom prst="roundRect">
            <a:avLst>
              <a:gd name="adj" fmla="val 5714"/>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73184" y="4087368"/>
            <a:ext cx="420624" cy="420624"/>
          </a:xfrm>
          <a:prstGeom prst="rect">
            <a:avLst/>
          </a:prstGeom>
        </p:spPr>
      </p:pic>
      <p:sp>
        <p:nvSpPr>
          <p:cNvPr id="19" name="Text 13"/>
          <p:cNvSpPr/>
          <p:nvPr/>
        </p:nvSpPr>
        <p:spPr>
          <a:xfrm>
            <a:off x="10021824" y="4050792"/>
            <a:ext cx="1325880" cy="256032"/>
          </a:xfrm>
          <a:prstGeom prst="rect">
            <a:avLst/>
          </a:prstGeom>
          <a:noFill/>
          <a:ln/>
        </p:spPr>
        <p:txBody>
          <a:bodyPr wrap="square" lIns="0" tIns="0" rIns="0" bIns="0" rtlCol="0" anchor="ctr"/>
          <a:lstStyle/>
          <a:p>
            <a:pPr indent="0" marL="0">
              <a:buNone/>
            </a:pPr>
            <a:r>
              <a:rPr lang="en-US" sz="1600" b="1" dirty="0">
                <a:solidFill>
                  <a:srgbClr val="0B2E63"/>
                </a:solidFill>
              </a:rPr>
              <a:t>Procedure</a:t>
            </a:r>
            <a:endParaRPr lang="en-US" sz="1600" dirty="0"/>
          </a:p>
        </p:txBody>
      </p:sp>
      <p:sp>
        <p:nvSpPr>
          <p:cNvPr id="20" name="Text 14"/>
          <p:cNvSpPr/>
          <p:nvPr/>
        </p:nvSpPr>
        <p:spPr>
          <a:xfrm>
            <a:off x="9473184" y="4608576"/>
            <a:ext cx="1874520" cy="310896"/>
          </a:xfrm>
          <a:prstGeom prst="rect">
            <a:avLst/>
          </a:prstGeom>
          <a:noFill/>
          <a:ln/>
        </p:spPr>
        <p:txBody>
          <a:bodyPr wrap="square" lIns="0" tIns="0" rIns="0" bIns="0" rtlCol="0" anchor="ctr">
            <a:normAutofit/>
          </a:bodyPr>
          <a:lstStyle/>
          <a:p>
            <a:pPr algn="ctr" indent="0" marL="0">
              <a:buNone/>
            </a:pPr>
            <a:r>
              <a:rPr lang="en-US" sz="1250" dirty="0">
                <a:solidFill>
                  <a:srgbClr val="334155"/>
                </a:solidFill>
              </a:rPr>
              <a:t>What is the next step?</a:t>
            </a:r>
            <a:endParaRPr lang="en-US" sz="1250" dirty="0"/>
          </a:p>
        </p:txBody>
      </p:sp>
      <p:sp>
        <p:nvSpPr>
          <p:cNvPr id="21" name="Shape 15"/>
          <p:cNvSpPr/>
          <p:nvPr/>
        </p:nvSpPr>
        <p:spPr>
          <a:xfrm>
            <a:off x="3090672" y="2359152"/>
            <a:ext cx="420624" cy="292608"/>
          </a:xfrm>
          <a:prstGeom prst="chevron">
            <a:avLst/>
          </a:prstGeom>
          <a:solidFill>
            <a:srgbClr val="1E5AA8"/>
          </a:solidFill>
          <a:ln w="12700">
            <a:solidFill>
              <a:srgbClr val="1E5AA8"/>
            </a:solidFill>
            <a:prstDash val="solid"/>
          </a:ln>
        </p:spPr>
      </p:sp>
      <p:sp>
        <p:nvSpPr>
          <p:cNvPr id="22" name="Shape 16"/>
          <p:cNvSpPr/>
          <p:nvPr/>
        </p:nvSpPr>
        <p:spPr>
          <a:xfrm>
            <a:off x="3090672" y="4297680"/>
            <a:ext cx="420624" cy="292608"/>
          </a:xfrm>
          <a:prstGeom prst="chevron">
            <a:avLst/>
          </a:prstGeom>
          <a:solidFill>
            <a:srgbClr val="1E5AA8"/>
          </a:solidFill>
          <a:ln w="12700">
            <a:solidFill>
              <a:srgbClr val="1E5AA8"/>
            </a:solidFill>
            <a:prstDash val="solid"/>
          </a:ln>
        </p:spPr>
      </p:sp>
      <p:sp>
        <p:nvSpPr>
          <p:cNvPr id="23" name="Shape 17"/>
          <p:cNvSpPr/>
          <p:nvPr/>
        </p:nvSpPr>
        <p:spPr>
          <a:xfrm rot="10800000">
            <a:off x="8613648" y="2359152"/>
            <a:ext cx="420624" cy="292608"/>
          </a:xfrm>
          <a:prstGeom prst="chevron">
            <a:avLst/>
          </a:prstGeom>
          <a:solidFill>
            <a:srgbClr val="1E5AA8"/>
          </a:solidFill>
          <a:ln w="12700">
            <a:solidFill>
              <a:srgbClr val="1E5AA8"/>
            </a:solidFill>
            <a:prstDash val="solid"/>
          </a:ln>
        </p:spPr>
      </p:sp>
      <p:sp>
        <p:nvSpPr>
          <p:cNvPr id="24" name="Shape 18"/>
          <p:cNvSpPr/>
          <p:nvPr/>
        </p:nvSpPr>
        <p:spPr>
          <a:xfrm rot="10800000">
            <a:off x="8613648" y="4297680"/>
            <a:ext cx="420624" cy="292608"/>
          </a:xfrm>
          <a:prstGeom prst="chevron">
            <a:avLst/>
          </a:prstGeom>
          <a:solidFill>
            <a:srgbClr val="1E5AA8"/>
          </a:solidFill>
          <a:ln w="12700">
            <a:solidFill>
              <a:srgbClr val="1E5AA8"/>
            </a:solidFill>
            <a:prstDash val="solid"/>
          </a:ln>
        </p:spPr>
      </p:sp>
      <p:sp>
        <p:nvSpPr>
          <p:cNvPr id="25" name="Shape 19"/>
          <p:cNvSpPr/>
          <p:nvPr/>
        </p:nvSpPr>
        <p:spPr>
          <a:xfrm>
            <a:off x="3721608" y="2084832"/>
            <a:ext cx="4690872" cy="2697480"/>
          </a:xfrm>
          <a:prstGeom prst="roundRect">
            <a:avLst>
              <a:gd name="adj" fmla="val 2712"/>
            </a:avLst>
          </a:prstGeom>
          <a:solidFill>
            <a:srgbClr val="F1F6FC"/>
          </a:solidFill>
          <a:ln w="12700">
            <a:solidFill>
              <a:srgbClr val="BCD2EB"/>
            </a:solidFill>
            <a:prstDash val="solid"/>
          </a:ln>
          <a:effectLst>
            <a:outerShdw sx="100000" sy="100000" kx="0" ky="0" algn="bl" rotWithShape="0" blurRad="19050" dist="50800" dir="2700000">
              <a:srgbClr val="C8D4E3">
                <a:alpha val="14000"/>
              </a:srgbClr>
            </a:outerShdw>
          </a:effectLst>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41848" y="2423160"/>
            <a:ext cx="822960" cy="822960"/>
          </a:xfrm>
          <a:prstGeom prst="rect">
            <a:avLst/>
          </a:prstGeom>
        </p:spPr>
      </p:pic>
      <p:sp>
        <p:nvSpPr>
          <p:cNvPr id="27" name="Text 20"/>
          <p:cNvSpPr/>
          <p:nvPr/>
        </p:nvSpPr>
        <p:spPr>
          <a:xfrm>
            <a:off x="4663440" y="3401568"/>
            <a:ext cx="2834640" cy="347472"/>
          </a:xfrm>
          <a:prstGeom prst="rect">
            <a:avLst/>
          </a:prstGeom>
          <a:noFill/>
          <a:ln/>
        </p:spPr>
        <p:txBody>
          <a:bodyPr wrap="square" lIns="0" tIns="0" rIns="0" bIns="0" rtlCol="0" anchor="ctr"/>
          <a:lstStyle/>
          <a:p>
            <a:pPr algn="ctr" indent="0" marL="0">
              <a:buNone/>
            </a:pPr>
            <a:r>
              <a:rPr lang="en-US" sz="2300" b="1" dirty="0">
                <a:solidFill>
                  <a:srgbClr val="0B2E63"/>
                </a:solidFill>
              </a:rPr>
              <a:t>One clear view</a:t>
            </a:r>
            <a:endParaRPr lang="en-US" sz="2300" dirty="0"/>
          </a:p>
        </p:txBody>
      </p:sp>
      <p:sp>
        <p:nvSpPr>
          <p:cNvPr id="28" name="Text 21"/>
          <p:cNvSpPr/>
          <p:nvPr/>
        </p:nvSpPr>
        <p:spPr>
          <a:xfrm>
            <a:off x="4279392" y="3794760"/>
            <a:ext cx="3621024" cy="749808"/>
          </a:xfrm>
          <a:prstGeom prst="rect">
            <a:avLst/>
          </a:prstGeom>
          <a:noFill/>
          <a:ln/>
        </p:spPr>
        <p:txBody>
          <a:bodyPr wrap="square" lIns="0" tIns="0" rIns="0" bIns="0" rtlCol="0" anchor="ctr">
            <a:normAutofit/>
          </a:bodyPr>
          <a:lstStyle/>
          <a:p>
            <a:pPr algn="ctr" indent="0" marL="0">
              <a:buNone/>
            </a:pPr>
            <a:r>
              <a:rPr lang="en-US" sz="1550" dirty="0">
                <a:solidFill>
                  <a:srgbClr val="334155"/>
                </a:solidFill>
              </a:rPr>
              <a:t>What happened</a:t>
            </a:r>
            <a:endParaRPr lang="en-US" sz="1550" dirty="0"/>
          </a:p>
          <a:p>
            <a:pPr algn="ctr" indent="0" marL="0">
              <a:buNone/>
            </a:pPr>
            <a:r>
              <a:rPr lang="en-US" sz="1550" dirty="0">
                <a:solidFill>
                  <a:srgbClr val="334155"/>
                </a:solidFill>
              </a:rPr>
              <a:t>Why it happened</a:t>
            </a:r>
            <a:endParaRPr lang="en-US" sz="1550" dirty="0"/>
          </a:p>
          <a:p>
            <a:pPr algn="ctr" indent="0" marL="0">
              <a:buNone/>
            </a:pPr>
            <a:r>
              <a:rPr lang="en-US" sz="1550" dirty="0">
                <a:solidFill>
                  <a:srgbClr val="334155"/>
                </a:solidFill>
              </a:rPr>
              <a:t>What the employee should do next</a:t>
            </a:r>
            <a:endParaRPr lang="en-US" sz="1550" dirty="0"/>
          </a:p>
        </p:txBody>
      </p:sp>
      <p:sp>
        <p:nvSpPr>
          <p:cNvPr id="29" name="Shape 22"/>
          <p:cNvSpPr/>
          <p:nvPr/>
        </p:nvSpPr>
        <p:spPr>
          <a:xfrm>
            <a:off x="3127248" y="5330952"/>
            <a:ext cx="5989320" cy="603504"/>
          </a:xfrm>
          <a:prstGeom prst="roundRect">
            <a:avLst>
              <a:gd name="adj" fmla="val 12121"/>
            </a:avLst>
          </a:prstGeom>
          <a:solidFill>
            <a:srgbClr val="E7F5EC"/>
          </a:solidFill>
          <a:ln w="12700">
            <a:solidFill>
              <a:srgbClr val="B9DEC7"/>
            </a:solidFill>
            <a:prstDash val="solid"/>
          </a:ln>
        </p:spPr>
      </p:sp>
      <p:sp>
        <p:nvSpPr>
          <p:cNvPr id="30" name="Text 23"/>
          <p:cNvSpPr/>
          <p:nvPr/>
        </p:nvSpPr>
        <p:spPr>
          <a:xfrm>
            <a:off x="3401568" y="5541264"/>
            <a:ext cx="5440680" cy="182880"/>
          </a:xfrm>
          <a:prstGeom prst="rect">
            <a:avLst/>
          </a:prstGeom>
          <a:noFill/>
          <a:ln/>
        </p:spPr>
        <p:txBody>
          <a:bodyPr wrap="square" lIns="0" tIns="0" rIns="0" bIns="0" rtlCol="0" anchor="ctr">
            <a:normAutofit/>
          </a:bodyPr>
          <a:lstStyle/>
          <a:p>
            <a:pPr algn="ctr" indent="0" marL="0">
              <a:buNone/>
            </a:pPr>
            <a:r>
              <a:rPr lang="en-US" sz="1570" b="1" dirty="0">
                <a:solidFill>
                  <a:srgbClr val="1B6038"/>
                </a:solidFill>
              </a:rPr>
              <a:t>AI organizes the evidence. The employee still owns the decision.</a:t>
            </a:r>
            <a:endParaRPr lang="en-US" sz="157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38912" y="347472"/>
            <a:ext cx="8641080" cy="502920"/>
          </a:xfrm>
          <a:prstGeom prst="rect">
            <a:avLst/>
          </a:prstGeom>
          <a:noFill/>
          <a:ln/>
        </p:spPr>
        <p:txBody>
          <a:bodyPr wrap="square" lIns="0" tIns="0" rIns="0" bIns="0" rtlCol="0" anchor="ctr">
            <a:normAutofit/>
          </a:bodyPr>
          <a:lstStyle/>
          <a:p>
            <a:pPr indent="0" marL="0">
              <a:buNone/>
            </a:pPr>
            <a:r>
              <a:rPr lang="en-US" sz="2650" b="1" dirty="0">
                <a:solidFill>
                  <a:srgbClr val="0B2E63"/>
                </a:solidFill>
                <a:latin typeface="Aptos Display" pitchFamily="34" charset="0"/>
                <a:ea typeface="Aptos Display" pitchFamily="34" charset="-122"/>
                <a:cs typeface="Aptos Display" pitchFamily="34" charset="-120"/>
              </a:rPr>
              <a:t>Meet the demo transaction</a:t>
            </a:r>
            <a:endParaRPr lang="en-US" sz="2650" dirty="0"/>
          </a:p>
        </p:txBody>
      </p:sp>
      <p:sp>
        <p:nvSpPr>
          <p:cNvPr id="3" name="Text 1"/>
          <p:cNvSpPr/>
          <p:nvPr/>
        </p:nvSpPr>
        <p:spPr>
          <a:xfrm>
            <a:off x="457200" y="896112"/>
            <a:ext cx="854964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A simple, synthetic example that everyone can understand.</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9482328" y="384048"/>
            <a:ext cx="2258568" cy="384048"/>
          </a:xfrm>
          <a:prstGeom prst="roundRect">
            <a:avLst>
              <a:gd name="adj" fmla="val 19048"/>
            </a:avLst>
          </a:prstGeom>
          <a:solidFill>
            <a:srgbClr val="FFF4D8"/>
          </a:solidFill>
          <a:ln w="12700">
            <a:solidFill>
              <a:srgbClr val="F0D58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19488" y="466344"/>
            <a:ext cx="146304" cy="146304"/>
          </a:xfrm>
          <a:prstGeom prst="rect">
            <a:avLst/>
          </a:prstGeom>
        </p:spPr>
      </p:pic>
      <p:sp>
        <p:nvSpPr>
          <p:cNvPr id="7" name="Text 4"/>
          <p:cNvSpPr/>
          <p:nvPr/>
        </p:nvSpPr>
        <p:spPr>
          <a:xfrm>
            <a:off x="9829800" y="457200"/>
            <a:ext cx="1719072" cy="164592"/>
          </a:xfrm>
          <a:prstGeom prst="rect">
            <a:avLst/>
          </a:prstGeom>
          <a:noFill/>
          <a:ln/>
        </p:spPr>
        <p:txBody>
          <a:bodyPr wrap="square" lIns="0" tIns="0" rIns="0" bIns="0" rtlCol="0" anchor="ctr">
            <a:normAutofit/>
          </a:bodyPr>
          <a:lstStyle/>
          <a:p>
            <a:pPr indent="0" marL="0">
              <a:buNone/>
            </a:pPr>
            <a:r>
              <a:rPr lang="en-US" sz="1030" b="1" dirty="0">
                <a:solidFill>
                  <a:srgbClr val="7A5716"/>
                </a:solidFill>
              </a:rPr>
              <a:t>LIVE DEMO</a:t>
            </a:r>
            <a:endParaRPr lang="en-US" sz="1030" dirty="0"/>
          </a:p>
        </p:txBody>
      </p:sp>
      <p:sp>
        <p:nvSpPr>
          <p:cNvPr id="8" name="Shape 5"/>
          <p:cNvSpPr/>
          <p:nvPr/>
        </p:nvSpPr>
        <p:spPr>
          <a:xfrm>
            <a:off x="685800" y="1764792"/>
            <a:ext cx="4892040" cy="4133088"/>
          </a:xfrm>
          <a:prstGeom prst="roundRect">
            <a:avLst>
              <a:gd name="adj" fmla="val 1770"/>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9" name="Text 6"/>
          <p:cNvSpPr/>
          <p:nvPr/>
        </p:nvSpPr>
        <p:spPr>
          <a:xfrm>
            <a:off x="1033272" y="2011680"/>
            <a:ext cx="2651760" cy="329184"/>
          </a:xfrm>
          <a:prstGeom prst="rect">
            <a:avLst/>
          </a:prstGeom>
          <a:noFill/>
          <a:ln/>
        </p:spPr>
        <p:txBody>
          <a:bodyPr wrap="square" lIns="0" tIns="0" rIns="0" bIns="0" rtlCol="0" anchor="ctr"/>
          <a:lstStyle/>
          <a:p>
            <a:pPr indent="0" marL="0">
              <a:buNone/>
            </a:pPr>
            <a:r>
              <a:rPr lang="en-US" sz="2400" b="1" dirty="0">
                <a:solidFill>
                  <a:srgbClr val="0B2E63"/>
                </a:solidFill>
              </a:rPr>
              <a:t>Jane Smith</a:t>
            </a:r>
            <a:endParaRPr lang="en-US" sz="2400" dirty="0"/>
          </a:p>
        </p:txBody>
      </p:sp>
      <p:sp>
        <p:nvSpPr>
          <p:cNvPr id="10" name="Text 7"/>
          <p:cNvSpPr/>
          <p:nvPr/>
        </p:nvSpPr>
        <p:spPr>
          <a:xfrm>
            <a:off x="1042416" y="2487168"/>
            <a:ext cx="2286000" cy="219456"/>
          </a:xfrm>
          <a:prstGeom prst="rect">
            <a:avLst/>
          </a:prstGeom>
          <a:noFill/>
          <a:ln/>
        </p:spPr>
        <p:txBody>
          <a:bodyPr wrap="square" lIns="0" tIns="0" rIns="0" bIns="0" rtlCol="0" anchor="ctr"/>
          <a:lstStyle/>
          <a:p>
            <a:pPr indent="0" marL="0">
              <a:buNone/>
            </a:pPr>
            <a:r>
              <a:rPr lang="en-US" sz="1450" dirty="0">
                <a:solidFill>
                  <a:srgbClr val="64748B"/>
                </a:solidFill>
              </a:rPr>
              <a:t>Visa •••• 4421</a:t>
            </a:r>
            <a:endParaRPr lang="en-US" sz="145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80560" y="2057400"/>
            <a:ext cx="502920" cy="502920"/>
          </a:xfrm>
          <a:prstGeom prst="rect">
            <a:avLst/>
          </a:prstGeom>
        </p:spPr>
      </p:pic>
      <p:sp>
        <p:nvSpPr>
          <p:cNvPr id="12" name="Text 8"/>
          <p:cNvSpPr/>
          <p:nvPr/>
        </p:nvSpPr>
        <p:spPr>
          <a:xfrm>
            <a:off x="1051560" y="3063240"/>
            <a:ext cx="1691640" cy="256032"/>
          </a:xfrm>
          <a:prstGeom prst="rect">
            <a:avLst/>
          </a:prstGeom>
          <a:noFill/>
          <a:ln/>
        </p:spPr>
        <p:txBody>
          <a:bodyPr wrap="square" lIns="0" tIns="0" rIns="0" bIns="0" rtlCol="0" anchor="ctr"/>
          <a:lstStyle/>
          <a:p>
            <a:pPr indent="0" marL="0">
              <a:buNone/>
            </a:pPr>
            <a:r>
              <a:rPr lang="en-US" sz="1600" b="1" dirty="0">
                <a:solidFill>
                  <a:srgbClr val="334155"/>
                </a:solidFill>
              </a:rPr>
              <a:t>Best Buy</a:t>
            </a:r>
            <a:endParaRPr lang="en-US" sz="1600" dirty="0"/>
          </a:p>
        </p:txBody>
      </p:sp>
      <p:sp>
        <p:nvSpPr>
          <p:cNvPr id="13" name="Text 9"/>
          <p:cNvSpPr/>
          <p:nvPr/>
        </p:nvSpPr>
        <p:spPr>
          <a:xfrm>
            <a:off x="3675888" y="3017520"/>
            <a:ext cx="1234440" cy="310896"/>
          </a:xfrm>
          <a:prstGeom prst="rect">
            <a:avLst/>
          </a:prstGeom>
          <a:noFill/>
          <a:ln/>
        </p:spPr>
        <p:txBody>
          <a:bodyPr wrap="square" lIns="0" tIns="0" rIns="0" bIns="0" rtlCol="0" anchor="ctr"/>
          <a:lstStyle/>
          <a:p>
            <a:pPr algn="r" indent="0" marL="0">
              <a:buNone/>
            </a:pPr>
            <a:r>
              <a:rPr lang="en-US" sz="2000" b="1" dirty="0">
                <a:solidFill>
                  <a:srgbClr val="0B2E63"/>
                </a:solidFill>
              </a:rPr>
              <a:t>$1,250.00</a:t>
            </a:r>
            <a:endParaRPr lang="en-US" sz="2000" dirty="0"/>
          </a:p>
        </p:txBody>
      </p:sp>
      <p:sp>
        <p:nvSpPr>
          <p:cNvPr id="14" name="Shape 10"/>
          <p:cNvSpPr/>
          <p:nvPr/>
        </p:nvSpPr>
        <p:spPr>
          <a:xfrm>
            <a:off x="1033272" y="3511296"/>
            <a:ext cx="4114800" cy="0"/>
          </a:xfrm>
          <a:prstGeom prst="line">
            <a:avLst/>
          </a:prstGeom>
          <a:noFill/>
          <a:ln w="12700">
            <a:solidFill>
              <a:srgbClr val="D9E2EF"/>
            </a:solidFill>
            <a:prstDash val="solid"/>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1560" y="3831336"/>
            <a:ext cx="201168" cy="201168"/>
          </a:xfrm>
          <a:prstGeom prst="rect">
            <a:avLst/>
          </a:prstGeom>
        </p:spPr>
      </p:pic>
      <p:sp>
        <p:nvSpPr>
          <p:cNvPr id="16" name="Text 11"/>
          <p:cNvSpPr/>
          <p:nvPr/>
        </p:nvSpPr>
        <p:spPr>
          <a:xfrm>
            <a:off x="1362456" y="3822192"/>
            <a:ext cx="36210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Card is active</a:t>
            </a:r>
            <a:endParaRPr lang="en-US" sz="150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1560" y="4325112"/>
            <a:ext cx="201168" cy="201168"/>
          </a:xfrm>
          <a:prstGeom prst="rect">
            <a:avLst/>
          </a:prstGeom>
        </p:spPr>
      </p:pic>
      <p:sp>
        <p:nvSpPr>
          <p:cNvPr id="18" name="Text 12"/>
          <p:cNvSpPr/>
          <p:nvPr/>
        </p:nvSpPr>
        <p:spPr>
          <a:xfrm>
            <a:off x="1362456" y="4315968"/>
            <a:ext cx="36210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Available balance: $4,250</a:t>
            </a:r>
            <a:endParaRPr lang="en-US" sz="150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1560" y="4818888"/>
            <a:ext cx="201168" cy="201168"/>
          </a:xfrm>
          <a:prstGeom prst="rect">
            <a:avLst/>
          </a:prstGeom>
        </p:spPr>
      </p:pic>
      <p:sp>
        <p:nvSpPr>
          <p:cNvPr id="20" name="Text 13"/>
          <p:cNvSpPr/>
          <p:nvPr/>
        </p:nvSpPr>
        <p:spPr>
          <a:xfrm>
            <a:off x="1362456" y="4809744"/>
            <a:ext cx="36210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Purchase status: declined</a:t>
            </a:r>
            <a:endParaRPr lang="en-US" sz="150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1560" y="5312664"/>
            <a:ext cx="201168" cy="201168"/>
          </a:xfrm>
          <a:prstGeom prst="rect">
            <a:avLst/>
          </a:prstGeom>
        </p:spPr>
      </p:pic>
      <p:sp>
        <p:nvSpPr>
          <p:cNvPr id="22" name="Text 14"/>
          <p:cNvSpPr/>
          <p:nvPr/>
        </p:nvSpPr>
        <p:spPr>
          <a:xfrm>
            <a:off x="1362456" y="5303520"/>
            <a:ext cx="36210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Alert: unusual spending pattern</a:t>
            </a:r>
            <a:endParaRPr lang="en-US" sz="1500" dirty="0"/>
          </a:p>
        </p:txBody>
      </p:sp>
      <p:sp>
        <p:nvSpPr>
          <p:cNvPr id="23" name="Shape 15"/>
          <p:cNvSpPr/>
          <p:nvPr/>
        </p:nvSpPr>
        <p:spPr>
          <a:xfrm>
            <a:off x="6016752" y="1965960"/>
            <a:ext cx="5257800" cy="1920240"/>
          </a:xfrm>
          <a:prstGeom prst="roundRect">
            <a:avLst>
              <a:gd name="adj" fmla="val 3810"/>
            </a:avLst>
          </a:prstGeom>
          <a:solidFill>
            <a:srgbClr val="F1F6FC"/>
          </a:solidFill>
          <a:ln w="12700">
            <a:solidFill>
              <a:srgbClr val="C6D9F0"/>
            </a:solidFill>
            <a:prstDash val="solid"/>
          </a:ln>
          <a:effectLst>
            <a:outerShdw sx="100000" sy="100000" kx="0" ky="0" algn="bl" rotWithShape="0" blurRad="19050" dist="50800" dir="2700000">
              <a:srgbClr val="C8D4E3">
                <a:alpha val="14000"/>
              </a:srgbClr>
            </a:outerShdw>
          </a:effectLst>
        </p:spPr>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36792" y="2377440"/>
            <a:ext cx="566928" cy="566928"/>
          </a:xfrm>
          <a:prstGeom prst="rect">
            <a:avLst/>
          </a:prstGeom>
        </p:spPr>
      </p:pic>
      <p:sp>
        <p:nvSpPr>
          <p:cNvPr id="25" name="Text 16"/>
          <p:cNvSpPr/>
          <p:nvPr/>
        </p:nvSpPr>
        <p:spPr>
          <a:xfrm>
            <a:off x="7159752" y="2276856"/>
            <a:ext cx="2057400" cy="292608"/>
          </a:xfrm>
          <a:prstGeom prst="rect">
            <a:avLst/>
          </a:prstGeom>
          <a:noFill/>
          <a:ln/>
        </p:spPr>
        <p:txBody>
          <a:bodyPr wrap="square" lIns="0" tIns="0" rIns="0" bIns="0" rtlCol="0" anchor="ctr"/>
          <a:lstStyle/>
          <a:p>
            <a:pPr indent="0" marL="0">
              <a:buNone/>
            </a:pPr>
            <a:r>
              <a:rPr lang="en-US" sz="1700" b="1" dirty="0">
                <a:solidFill>
                  <a:srgbClr val="0B2E63"/>
                </a:solidFill>
              </a:rPr>
              <a:t>Employee request</a:t>
            </a:r>
            <a:endParaRPr lang="en-US" sz="1700" dirty="0"/>
          </a:p>
        </p:txBody>
      </p:sp>
      <p:sp>
        <p:nvSpPr>
          <p:cNvPr id="26" name="Text 17"/>
          <p:cNvSpPr/>
          <p:nvPr/>
        </p:nvSpPr>
        <p:spPr>
          <a:xfrm>
            <a:off x="7159752" y="2743200"/>
            <a:ext cx="3566160" cy="502920"/>
          </a:xfrm>
          <a:prstGeom prst="rect">
            <a:avLst/>
          </a:prstGeom>
          <a:noFill/>
          <a:ln/>
        </p:spPr>
        <p:txBody>
          <a:bodyPr wrap="square" lIns="0" tIns="0" rIns="0" bIns="0" rtlCol="0" anchor="ctr">
            <a:normAutofit/>
          </a:bodyPr>
          <a:lstStyle/>
          <a:p>
            <a:pPr indent="0" marL="0">
              <a:buNone/>
            </a:pPr>
            <a:r>
              <a:rPr lang="en-US" sz="2000" b="1" dirty="0">
                <a:solidFill>
                  <a:srgbClr val="334155"/>
                </a:solidFill>
              </a:rPr>
              <a:t>“Resolve declined transaction 847291.”</a:t>
            </a:r>
            <a:endParaRPr lang="en-US" sz="2000" dirty="0"/>
          </a:p>
        </p:txBody>
      </p:sp>
      <p:sp>
        <p:nvSpPr>
          <p:cNvPr id="27" name="Text 18"/>
          <p:cNvSpPr/>
          <p:nvPr/>
        </p:nvSpPr>
        <p:spPr>
          <a:xfrm>
            <a:off x="6172200" y="4315968"/>
            <a:ext cx="4709160" cy="411480"/>
          </a:xfrm>
          <a:prstGeom prst="rect">
            <a:avLst/>
          </a:prstGeom>
          <a:noFill/>
          <a:ln/>
        </p:spPr>
        <p:txBody>
          <a:bodyPr wrap="square" lIns="0" tIns="0" rIns="0" bIns="0" rtlCol="0" anchor="ctr">
            <a:normAutofit/>
          </a:bodyPr>
          <a:lstStyle/>
          <a:p>
            <a:pPr algn="ctr" indent="0" marL="0">
              <a:buNone/>
            </a:pPr>
            <a:r>
              <a:rPr lang="en-US" sz="1700" dirty="0">
                <a:solidFill>
                  <a:srgbClr val="334155"/>
                </a:solidFill>
              </a:rPr>
              <a:t>That one sentence starts the guided investigation.</a:t>
            </a:r>
            <a:endParaRPr lang="en-US" sz="1700" dirty="0"/>
          </a:p>
        </p:txBody>
      </p:sp>
      <p:sp>
        <p:nvSpPr>
          <p:cNvPr id="28" name="Text 19"/>
          <p:cNvSpPr/>
          <p:nvPr/>
        </p:nvSpPr>
        <p:spPr>
          <a:xfrm>
            <a:off x="6172200" y="5010912"/>
            <a:ext cx="4709160" cy="347472"/>
          </a:xfrm>
          <a:prstGeom prst="rect">
            <a:avLst/>
          </a:prstGeom>
          <a:noFill/>
          <a:ln/>
        </p:spPr>
        <p:txBody>
          <a:bodyPr wrap="square" lIns="0" tIns="0" rIns="0" bIns="0" rtlCol="0" anchor="ctr">
            <a:normAutofit/>
          </a:bodyPr>
          <a:lstStyle/>
          <a:p>
            <a:pPr algn="ctr" indent="0" marL="0">
              <a:buNone/>
            </a:pPr>
            <a:r>
              <a:rPr lang="en-US" sz="1400" dirty="0">
                <a:solidFill>
                  <a:srgbClr val="64748B"/>
                </a:solidFill>
              </a:rPr>
              <a:t>Transaction ID 847291 is the anchor for the entire live demo.</a:t>
            </a:r>
            <a:endParaRPr lang="en-US" sz="140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38912" y="347472"/>
            <a:ext cx="8641080" cy="502920"/>
          </a:xfrm>
          <a:prstGeom prst="rect">
            <a:avLst/>
          </a:prstGeom>
          <a:noFill/>
          <a:ln/>
        </p:spPr>
        <p:txBody>
          <a:bodyPr wrap="square" lIns="0" tIns="0" rIns="0" bIns="0" rtlCol="0" anchor="ctr">
            <a:normAutofit/>
          </a:bodyPr>
          <a:lstStyle/>
          <a:p>
            <a:pPr indent="0" marL="0">
              <a:buNone/>
            </a:pPr>
            <a:r>
              <a:rPr lang="en-US" sz="2650" b="1" dirty="0">
                <a:solidFill>
                  <a:srgbClr val="0B2E63"/>
                </a:solidFill>
                <a:latin typeface="Aptos Display" pitchFamily="34" charset="0"/>
                <a:ea typeface="Aptos Display" pitchFamily="34" charset="-122"/>
                <a:cs typeface="Aptos Display" pitchFamily="34" charset="-120"/>
              </a:rPr>
              <a:t>1. AI investigates the issue</a:t>
            </a:r>
            <a:endParaRPr lang="en-US" sz="2650" dirty="0"/>
          </a:p>
        </p:txBody>
      </p:sp>
      <p:sp>
        <p:nvSpPr>
          <p:cNvPr id="3" name="Text 1"/>
          <p:cNvSpPr/>
          <p:nvPr/>
        </p:nvSpPr>
        <p:spPr>
          <a:xfrm>
            <a:off x="457200" y="896112"/>
            <a:ext cx="854964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It gathers the facts the employee would normally look up one by one.</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9482328" y="384048"/>
            <a:ext cx="2258568" cy="384048"/>
          </a:xfrm>
          <a:prstGeom prst="roundRect">
            <a:avLst>
              <a:gd name="adj" fmla="val 19048"/>
            </a:avLst>
          </a:prstGeom>
          <a:solidFill>
            <a:srgbClr val="FFF4D8"/>
          </a:solidFill>
          <a:ln w="12700">
            <a:solidFill>
              <a:srgbClr val="F0D58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19488" y="466344"/>
            <a:ext cx="146304" cy="146304"/>
          </a:xfrm>
          <a:prstGeom prst="rect">
            <a:avLst/>
          </a:prstGeom>
        </p:spPr>
      </p:pic>
      <p:sp>
        <p:nvSpPr>
          <p:cNvPr id="7" name="Text 4"/>
          <p:cNvSpPr/>
          <p:nvPr/>
        </p:nvSpPr>
        <p:spPr>
          <a:xfrm>
            <a:off x="9829800" y="457200"/>
            <a:ext cx="1719072" cy="164592"/>
          </a:xfrm>
          <a:prstGeom prst="rect">
            <a:avLst/>
          </a:prstGeom>
          <a:noFill/>
          <a:ln/>
        </p:spPr>
        <p:txBody>
          <a:bodyPr wrap="square" lIns="0" tIns="0" rIns="0" bIns="0" rtlCol="0" anchor="ctr">
            <a:normAutofit/>
          </a:bodyPr>
          <a:lstStyle/>
          <a:p>
            <a:pPr indent="0" marL="0">
              <a:buNone/>
            </a:pPr>
            <a:r>
              <a:rPr lang="en-US" sz="1030" b="1" dirty="0">
                <a:solidFill>
                  <a:srgbClr val="7A5716"/>
                </a:solidFill>
              </a:rPr>
              <a:t>SHOW FACTS</a:t>
            </a:r>
            <a:endParaRPr lang="en-US" sz="1030" dirty="0"/>
          </a:p>
        </p:txBody>
      </p:sp>
      <p:sp>
        <p:nvSpPr>
          <p:cNvPr id="8" name="Shape 5"/>
          <p:cNvSpPr/>
          <p:nvPr/>
        </p:nvSpPr>
        <p:spPr>
          <a:xfrm>
            <a:off x="685800" y="1389888"/>
            <a:ext cx="1965960" cy="347472"/>
          </a:xfrm>
          <a:prstGeom prst="roundRect">
            <a:avLst>
              <a:gd name="adj" fmla="val 21053"/>
            </a:avLst>
          </a:prstGeom>
          <a:solidFill>
            <a:srgbClr val="0B2E63"/>
          </a:solidFill>
          <a:ln w="12700">
            <a:solidFill>
              <a:srgbClr val="0B2E63"/>
            </a:solidFill>
            <a:prstDash val="solid"/>
          </a:ln>
        </p:spPr>
      </p:sp>
      <p:sp>
        <p:nvSpPr>
          <p:cNvPr id="9" name="Text 6"/>
          <p:cNvSpPr/>
          <p:nvPr/>
        </p:nvSpPr>
        <p:spPr>
          <a:xfrm>
            <a:off x="7589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1. Investigate</a:t>
            </a:r>
            <a:endParaRPr lang="en-US" sz="1050" dirty="0"/>
          </a:p>
        </p:txBody>
      </p:sp>
      <p:sp>
        <p:nvSpPr>
          <p:cNvPr id="10" name="Shape 7"/>
          <p:cNvSpPr/>
          <p:nvPr/>
        </p:nvSpPr>
        <p:spPr>
          <a:xfrm>
            <a:off x="2743200" y="1389888"/>
            <a:ext cx="1965960" cy="347472"/>
          </a:xfrm>
          <a:prstGeom prst="roundRect">
            <a:avLst>
              <a:gd name="adj" fmla="val 21053"/>
            </a:avLst>
          </a:prstGeom>
          <a:solidFill>
            <a:srgbClr val="EAF2FB"/>
          </a:solidFill>
          <a:ln w="12700">
            <a:solidFill>
              <a:srgbClr val="D9E2EF"/>
            </a:solidFill>
            <a:prstDash val="solid"/>
          </a:ln>
        </p:spPr>
      </p:sp>
      <p:sp>
        <p:nvSpPr>
          <p:cNvPr id="11" name="Text 8"/>
          <p:cNvSpPr/>
          <p:nvPr/>
        </p:nvSpPr>
        <p:spPr>
          <a:xfrm>
            <a:off x="28163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2. Find procedure</a:t>
            </a:r>
            <a:endParaRPr lang="en-US" sz="1050" dirty="0"/>
          </a:p>
        </p:txBody>
      </p:sp>
      <p:sp>
        <p:nvSpPr>
          <p:cNvPr id="12" name="Shape 9"/>
          <p:cNvSpPr/>
          <p:nvPr/>
        </p:nvSpPr>
        <p:spPr>
          <a:xfrm>
            <a:off x="4800600" y="1389888"/>
            <a:ext cx="1965960" cy="347472"/>
          </a:xfrm>
          <a:prstGeom prst="roundRect">
            <a:avLst>
              <a:gd name="adj" fmla="val 21053"/>
            </a:avLst>
          </a:prstGeom>
          <a:solidFill>
            <a:srgbClr val="EAF2FB"/>
          </a:solidFill>
          <a:ln w="12700">
            <a:solidFill>
              <a:srgbClr val="D9E2EF"/>
            </a:solidFill>
            <a:prstDash val="solid"/>
          </a:ln>
        </p:spPr>
      </p:sp>
      <p:sp>
        <p:nvSpPr>
          <p:cNvPr id="13" name="Text 10"/>
          <p:cNvSpPr/>
          <p:nvPr/>
        </p:nvSpPr>
        <p:spPr>
          <a:xfrm>
            <a:off x="48737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3. Recommend</a:t>
            </a:r>
            <a:endParaRPr lang="en-US" sz="1050" dirty="0"/>
          </a:p>
        </p:txBody>
      </p:sp>
      <p:sp>
        <p:nvSpPr>
          <p:cNvPr id="14" name="Shape 11"/>
          <p:cNvSpPr/>
          <p:nvPr/>
        </p:nvSpPr>
        <p:spPr>
          <a:xfrm>
            <a:off x="6858000" y="1389888"/>
            <a:ext cx="1965960" cy="347472"/>
          </a:xfrm>
          <a:prstGeom prst="roundRect">
            <a:avLst>
              <a:gd name="adj" fmla="val 21053"/>
            </a:avLst>
          </a:prstGeom>
          <a:solidFill>
            <a:srgbClr val="EAF2FB"/>
          </a:solidFill>
          <a:ln w="12700">
            <a:solidFill>
              <a:srgbClr val="D9E2EF"/>
            </a:solidFill>
            <a:prstDash val="solid"/>
          </a:ln>
        </p:spPr>
      </p:sp>
      <p:sp>
        <p:nvSpPr>
          <p:cNvPr id="15" name="Text 12"/>
          <p:cNvSpPr/>
          <p:nvPr/>
        </p:nvSpPr>
        <p:spPr>
          <a:xfrm>
            <a:off x="69311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4. Employee decides</a:t>
            </a:r>
            <a:endParaRPr lang="en-US" sz="1050" dirty="0"/>
          </a:p>
        </p:txBody>
      </p:sp>
      <p:sp>
        <p:nvSpPr>
          <p:cNvPr id="16" name="Shape 13"/>
          <p:cNvSpPr/>
          <p:nvPr/>
        </p:nvSpPr>
        <p:spPr>
          <a:xfrm>
            <a:off x="8915400" y="1389888"/>
            <a:ext cx="1965960" cy="347472"/>
          </a:xfrm>
          <a:prstGeom prst="roundRect">
            <a:avLst>
              <a:gd name="adj" fmla="val 21053"/>
            </a:avLst>
          </a:prstGeom>
          <a:solidFill>
            <a:srgbClr val="EAF2FB"/>
          </a:solidFill>
          <a:ln w="12700">
            <a:solidFill>
              <a:srgbClr val="D9E2EF"/>
            </a:solidFill>
            <a:prstDash val="solid"/>
          </a:ln>
        </p:spPr>
      </p:sp>
      <p:sp>
        <p:nvSpPr>
          <p:cNvPr id="17" name="Text 14"/>
          <p:cNvSpPr/>
          <p:nvPr/>
        </p:nvSpPr>
        <p:spPr>
          <a:xfrm>
            <a:off x="89885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5. Record action</a:t>
            </a:r>
            <a:endParaRPr lang="en-US" sz="1050" dirty="0"/>
          </a:p>
        </p:txBody>
      </p:sp>
      <p:sp>
        <p:nvSpPr>
          <p:cNvPr id="18" name="Shape 15"/>
          <p:cNvSpPr/>
          <p:nvPr/>
        </p:nvSpPr>
        <p:spPr>
          <a:xfrm>
            <a:off x="804672" y="2148840"/>
            <a:ext cx="2606040" cy="1627632"/>
          </a:xfrm>
          <a:prstGeom prst="roundRect">
            <a:avLst>
              <a:gd name="adj" fmla="val 4494"/>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3272" y="2496312"/>
            <a:ext cx="502920" cy="502920"/>
          </a:xfrm>
          <a:prstGeom prst="rect">
            <a:avLst/>
          </a:prstGeom>
        </p:spPr>
      </p:pic>
      <p:sp>
        <p:nvSpPr>
          <p:cNvPr id="20" name="Text 16"/>
          <p:cNvSpPr/>
          <p:nvPr/>
        </p:nvSpPr>
        <p:spPr>
          <a:xfrm>
            <a:off x="1700784" y="2377440"/>
            <a:ext cx="1417320" cy="246888"/>
          </a:xfrm>
          <a:prstGeom prst="rect">
            <a:avLst/>
          </a:prstGeom>
          <a:noFill/>
          <a:ln/>
        </p:spPr>
        <p:txBody>
          <a:bodyPr wrap="square" lIns="0" tIns="0" rIns="0" bIns="0" rtlCol="0" anchor="ctr"/>
          <a:lstStyle/>
          <a:p>
            <a:pPr indent="0" marL="0">
              <a:buNone/>
            </a:pPr>
            <a:r>
              <a:rPr lang="en-US" sz="1700" b="1" dirty="0">
                <a:solidFill>
                  <a:srgbClr val="0B2E63"/>
                </a:solidFill>
              </a:rPr>
              <a:t>Transaction</a:t>
            </a:r>
            <a:endParaRPr lang="en-US" sz="1700" dirty="0"/>
          </a:p>
        </p:txBody>
      </p:sp>
      <p:sp>
        <p:nvSpPr>
          <p:cNvPr id="21" name="Text 17"/>
          <p:cNvSpPr/>
          <p:nvPr/>
        </p:nvSpPr>
        <p:spPr>
          <a:xfrm>
            <a:off x="1014984" y="3099816"/>
            <a:ext cx="2176272" cy="384048"/>
          </a:xfrm>
          <a:prstGeom prst="rect">
            <a:avLst/>
          </a:prstGeom>
          <a:noFill/>
          <a:ln/>
        </p:spPr>
        <p:txBody>
          <a:bodyPr wrap="square" lIns="0" tIns="0" rIns="0" bIns="0" rtlCol="0" anchor="ctr">
            <a:normAutofit/>
          </a:bodyPr>
          <a:lstStyle/>
          <a:p>
            <a:pPr algn="ctr" indent="0" marL="0">
              <a:buNone/>
            </a:pPr>
            <a:r>
              <a:rPr lang="en-US" sz="1330" dirty="0">
                <a:solidFill>
                  <a:srgbClr val="334155"/>
                </a:solidFill>
              </a:rPr>
              <a:t>Best Buy • $1,250 • Declined</a:t>
            </a:r>
            <a:endParaRPr lang="en-US" sz="1330" dirty="0"/>
          </a:p>
        </p:txBody>
      </p:sp>
      <p:sp>
        <p:nvSpPr>
          <p:cNvPr id="22" name="Shape 18"/>
          <p:cNvSpPr/>
          <p:nvPr/>
        </p:nvSpPr>
        <p:spPr>
          <a:xfrm>
            <a:off x="3904488" y="2148840"/>
            <a:ext cx="2606040" cy="1627632"/>
          </a:xfrm>
          <a:prstGeom prst="roundRect">
            <a:avLst>
              <a:gd name="adj" fmla="val 4494"/>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3088" y="2496312"/>
            <a:ext cx="502920" cy="502920"/>
          </a:xfrm>
          <a:prstGeom prst="rect">
            <a:avLst/>
          </a:prstGeom>
        </p:spPr>
      </p:pic>
      <p:sp>
        <p:nvSpPr>
          <p:cNvPr id="24" name="Text 19"/>
          <p:cNvSpPr/>
          <p:nvPr/>
        </p:nvSpPr>
        <p:spPr>
          <a:xfrm>
            <a:off x="4800600" y="2377440"/>
            <a:ext cx="1417320" cy="246888"/>
          </a:xfrm>
          <a:prstGeom prst="rect">
            <a:avLst/>
          </a:prstGeom>
          <a:noFill/>
          <a:ln/>
        </p:spPr>
        <p:txBody>
          <a:bodyPr wrap="square" lIns="0" tIns="0" rIns="0" bIns="0" rtlCol="0" anchor="ctr"/>
          <a:lstStyle/>
          <a:p>
            <a:pPr indent="0" marL="0">
              <a:buNone/>
            </a:pPr>
            <a:r>
              <a:rPr lang="en-US" sz="1700" b="1" dirty="0">
                <a:solidFill>
                  <a:srgbClr val="0B2E63"/>
                </a:solidFill>
              </a:rPr>
              <a:t>Account</a:t>
            </a:r>
            <a:endParaRPr lang="en-US" sz="1700" dirty="0"/>
          </a:p>
        </p:txBody>
      </p:sp>
      <p:sp>
        <p:nvSpPr>
          <p:cNvPr id="25" name="Text 20"/>
          <p:cNvSpPr/>
          <p:nvPr/>
        </p:nvSpPr>
        <p:spPr>
          <a:xfrm>
            <a:off x="4114800" y="3099816"/>
            <a:ext cx="2176272" cy="384048"/>
          </a:xfrm>
          <a:prstGeom prst="rect">
            <a:avLst/>
          </a:prstGeom>
          <a:noFill/>
          <a:ln/>
        </p:spPr>
        <p:txBody>
          <a:bodyPr wrap="square" lIns="0" tIns="0" rIns="0" bIns="0" rtlCol="0" anchor="ctr">
            <a:normAutofit/>
          </a:bodyPr>
          <a:lstStyle/>
          <a:p>
            <a:pPr algn="ctr" indent="0" marL="0">
              <a:buNone/>
            </a:pPr>
            <a:r>
              <a:rPr lang="en-US" sz="1330" dirty="0">
                <a:solidFill>
                  <a:srgbClr val="334155"/>
                </a:solidFill>
              </a:rPr>
              <a:t>Active • $4,250 available</a:t>
            </a:r>
            <a:endParaRPr lang="en-US" sz="1330" dirty="0"/>
          </a:p>
        </p:txBody>
      </p:sp>
      <p:sp>
        <p:nvSpPr>
          <p:cNvPr id="26" name="Shape 21"/>
          <p:cNvSpPr/>
          <p:nvPr/>
        </p:nvSpPr>
        <p:spPr>
          <a:xfrm>
            <a:off x="7004304" y="2148840"/>
            <a:ext cx="2606040" cy="1627632"/>
          </a:xfrm>
          <a:prstGeom prst="roundRect">
            <a:avLst>
              <a:gd name="adj" fmla="val 4494"/>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32904" y="2496312"/>
            <a:ext cx="502920" cy="502920"/>
          </a:xfrm>
          <a:prstGeom prst="rect">
            <a:avLst/>
          </a:prstGeom>
        </p:spPr>
      </p:pic>
      <p:sp>
        <p:nvSpPr>
          <p:cNvPr id="28" name="Text 22"/>
          <p:cNvSpPr/>
          <p:nvPr/>
        </p:nvSpPr>
        <p:spPr>
          <a:xfrm>
            <a:off x="7900416" y="2377440"/>
            <a:ext cx="1417320" cy="246888"/>
          </a:xfrm>
          <a:prstGeom prst="rect">
            <a:avLst/>
          </a:prstGeom>
          <a:noFill/>
          <a:ln/>
        </p:spPr>
        <p:txBody>
          <a:bodyPr wrap="square" lIns="0" tIns="0" rIns="0" bIns="0" rtlCol="0" anchor="ctr"/>
          <a:lstStyle/>
          <a:p>
            <a:pPr indent="0" marL="0">
              <a:buNone/>
            </a:pPr>
            <a:r>
              <a:rPr lang="en-US" sz="1700" b="1" dirty="0">
                <a:solidFill>
                  <a:srgbClr val="0B2E63"/>
                </a:solidFill>
              </a:rPr>
              <a:t>Alert</a:t>
            </a:r>
            <a:endParaRPr lang="en-US" sz="1700" dirty="0"/>
          </a:p>
        </p:txBody>
      </p:sp>
      <p:sp>
        <p:nvSpPr>
          <p:cNvPr id="29" name="Text 23"/>
          <p:cNvSpPr/>
          <p:nvPr/>
        </p:nvSpPr>
        <p:spPr>
          <a:xfrm>
            <a:off x="7214616" y="3099816"/>
            <a:ext cx="2176272" cy="384048"/>
          </a:xfrm>
          <a:prstGeom prst="rect">
            <a:avLst/>
          </a:prstGeom>
          <a:noFill/>
          <a:ln/>
        </p:spPr>
        <p:txBody>
          <a:bodyPr wrap="square" lIns="0" tIns="0" rIns="0" bIns="0" rtlCol="0" anchor="ctr">
            <a:normAutofit/>
          </a:bodyPr>
          <a:lstStyle/>
          <a:p>
            <a:pPr algn="ctr" indent="0" marL="0">
              <a:buNone/>
            </a:pPr>
            <a:r>
              <a:rPr lang="en-US" sz="1330" dirty="0">
                <a:solidFill>
                  <a:srgbClr val="334155"/>
                </a:solidFill>
              </a:rPr>
              <a:t>Unusual spending pattern</a:t>
            </a:r>
            <a:endParaRPr lang="en-US" sz="1330" dirty="0"/>
          </a:p>
        </p:txBody>
      </p:sp>
      <p:sp>
        <p:nvSpPr>
          <p:cNvPr id="30" name="Shape 24"/>
          <p:cNvSpPr/>
          <p:nvPr/>
        </p:nvSpPr>
        <p:spPr>
          <a:xfrm>
            <a:off x="3456432" y="2798064"/>
            <a:ext cx="329184" cy="292608"/>
          </a:xfrm>
          <a:prstGeom prst="chevron">
            <a:avLst/>
          </a:prstGeom>
          <a:solidFill>
            <a:srgbClr val="1E5AA8"/>
          </a:solidFill>
          <a:ln w="12700">
            <a:solidFill>
              <a:srgbClr val="1E5AA8"/>
            </a:solidFill>
            <a:prstDash val="solid"/>
          </a:ln>
        </p:spPr>
      </p:sp>
      <p:sp>
        <p:nvSpPr>
          <p:cNvPr id="31" name="Shape 25"/>
          <p:cNvSpPr/>
          <p:nvPr/>
        </p:nvSpPr>
        <p:spPr>
          <a:xfrm>
            <a:off x="6556248" y="2798064"/>
            <a:ext cx="329184" cy="292608"/>
          </a:xfrm>
          <a:prstGeom prst="chevron">
            <a:avLst/>
          </a:prstGeom>
          <a:solidFill>
            <a:srgbClr val="1E5AA8"/>
          </a:solidFill>
          <a:ln w="12700">
            <a:solidFill>
              <a:srgbClr val="1E5AA8"/>
            </a:solidFill>
            <a:prstDash val="solid"/>
          </a:ln>
        </p:spPr>
      </p:sp>
      <p:sp>
        <p:nvSpPr>
          <p:cNvPr id="32" name="Shape 26"/>
          <p:cNvSpPr/>
          <p:nvPr/>
        </p:nvSpPr>
        <p:spPr>
          <a:xfrm>
            <a:off x="9948672" y="2148840"/>
            <a:ext cx="1426464" cy="1627632"/>
          </a:xfrm>
          <a:prstGeom prst="roundRect">
            <a:avLst>
              <a:gd name="adj" fmla="val 5128"/>
            </a:avLst>
          </a:prstGeom>
          <a:solidFill>
            <a:srgbClr val="E7F5EC"/>
          </a:solidFill>
          <a:ln w="12700">
            <a:solidFill>
              <a:srgbClr val="B9DEC7"/>
            </a:solidFill>
            <a:prstDash val="solid"/>
          </a:ln>
          <a:effectLst>
            <a:outerShdw sx="100000" sy="100000" kx="0" ky="0" algn="bl" rotWithShape="0" blurRad="19050" dist="50800" dir="2700000">
              <a:srgbClr val="C8D4E3">
                <a:alpha val="14000"/>
              </a:srgbClr>
            </a:outerShdw>
          </a:effectLst>
        </p:spPr>
      </p:sp>
      <p:pic>
        <p:nvPicPr>
          <p:cNvPr id="3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7584" y="2450592"/>
            <a:ext cx="502920" cy="502920"/>
          </a:xfrm>
          <a:prstGeom prst="rect">
            <a:avLst/>
          </a:prstGeom>
        </p:spPr>
      </p:pic>
      <p:sp>
        <p:nvSpPr>
          <p:cNvPr id="34" name="Text 27"/>
          <p:cNvSpPr/>
          <p:nvPr/>
        </p:nvSpPr>
        <p:spPr>
          <a:xfrm>
            <a:off x="10085832" y="3054096"/>
            <a:ext cx="1143000" cy="420624"/>
          </a:xfrm>
          <a:prstGeom prst="rect">
            <a:avLst/>
          </a:prstGeom>
          <a:noFill/>
          <a:ln/>
        </p:spPr>
        <p:txBody>
          <a:bodyPr wrap="square" lIns="0" tIns="0" rIns="0" bIns="0" rtlCol="0" anchor="ctr">
            <a:normAutofit/>
          </a:bodyPr>
          <a:lstStyle/>
          <a:p>
            <a:pPr algn="ctr" indent="0" marL="0">
              <a:buNone/>
            </a:pPr>
            <a:r>
              <a:rPr lang="en-US" sz="1500" b="1" dirty="0">
                <a:solidFill>
                  <a:srgbClr val="1B6038"/>
                </a:solidFill>
              </a:rPr>
              <a:t>Facts</a:t>
            </a:r>
            <a:endParaRPr lang="en-US" sz="1500" dirty="0"/>
          </a:p>
          <a:p>
            <a:pPr algn="ctr" indent="0" marL="0">
              <a:buNone/>
            </a:pPr>
            <a:r>
              <a:rPr lang="en-US" sz="1500" b="1" dirty="0">
                <a:solidFill>
                  <a:srgbClr val="1B6038"/>
                </a:solidFill>
              </a:rPr>
              <a:t>assembled</a:t>
            </a:r>
            <a:endParaRPr lang="en-US" sz="1500" dirty="0"/>
          </a:p>
        </p:txBody>
      </p:sp>
      <p:sp>
        <p:nvSpPr>
          <p:cNvPr id="35" name="Text 28"/>
          <p:cNvSpPr/>
          <p:nvPr/>
        </p:nvSpPr>
        <p:spPr>
          <a:xfrm>
            <a:off x="822960" y="4297680"/>
            <a:ext cx="3657600" cy="320040"/>
          </a:xfrm>
          <a:prstGeom prst="rect">
            <a:avLst/>
          </a:prstGeom>
          <a:noFill/>
          <a:ln/>
        </p:spPr>
        <p:txBody>
          <a:bodyPr wrap="square" lIns="0" tIns="0" rIns="0" bIns="0" rtlCol="0" anchor="ctr"/>
          <a:lstStyle/>
          <a:p>
            <a:pPr indent="0" marL="0">
              <a:buNone/>
            </a:pPr>
            <a:r>
              <a:rPr lang="en-US" sz="1800" b="1" dirty="0">
                <a:solidFill>
                  <a:srgbClr val="0B2E63"/>
                </a:solidFill>
              </a:rPr>
              <a:t>What the employee sees after the investigation</a:t>
            </a:r>
            <a:endParaRPr lang="en-US" sz="1800" dirty="0"/>
          </a:p>
        </p:txBody>
      </p:sp>
      <p:pic>
        <p:nvPicPr>
          <p:cNvPr id="3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0120" y="4764024"/>
            <a:ext cx="201168" cy="201168"/>
          </a:xfrm>
          <a:prstGeom prst="rect">
            <a:avLst/>
          </a:prstGeom>
        </p:spPr>
      </p:pic>
      <p:sp>
        <p:nvSpPr>
          <p:cNvPr id="37" name="Text 29"/>
          <p:cNvSpPr/>
          <p:nvPr/>
        </p:nvSpPr>
        <p:spPr>
          <a:xfrm>
            <a:off x="1271016" y="4754880"/>
            <a:ext cx="444398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The account is active.</a:t>
            </a:r>
            <a:endParaRPr lang="en-US" sz="1500" dirty="0"/>
          </a:p>
        </p:txBody>
      </p:sp>
      <p:pic>
        <p:nvPicPr>
          <p:cNvPr id="3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0120" y="5239512"/>
            <a:ext cx="201168" cy="201168"/>
          </a:xfrm>
          <a:prstGeom prst="rect">
            <a:avLst/>
          </a:prstGeom>
        </p:spPr>
      </p:pic>
      <p:sp>
        <p:nvSpPr>
          <p:cNvPr id="39" name="Text 30"/>
          <p:cNvSpPr/>
          <p:nvPr/>
        </p:nvSpPr>
        <p:spPr>
          <a:xfrm>
            <a:off x="1271016" y="5230368"/>
            <a:ext cx="444398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There is enough money for the purchase.</a:t>
            </a:r>
            <a:endParaRPr lang="en-US" sz="1500" dirty="0"/>
          </a:p>
        </p:txBody>
      </p:sp>
      <p:pic>
        <p:nvPicPr>
          <p:cNvPr id="4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60120" y="5715000"/>
            <a:ext cx="201168" cy="201168"/>
          </a:xfrm>
          <a:prstGeom prst="rect">
            <a:avLst/>
          </a:prstGeom>
        </p:spPr>
      </p:pic>
      <p:sp>
        <p:nvSpPr>
          <p:cNvPr id="41" name="Text 31"/>
          <p:cNvSpPr/>
          <p:nvPr/>
        </p:nvSpPr>
        <p:spPr>
          <a:xfrm>
            <a:off x="1271016" y="5705856"/>
            <a:ext cx="49926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The purchase was blocked by a fraud-protection rule.</a:t>
            </a:r>
            <a:endParaRPr lang="en-US" sz="1500" dirty="0"/>
          </a:p>
        </p:txBody>
      </p:sp>
      <p:sp>
        <p:nvSpPr>
          <p:cNvPr id="42" name="Shape 32"/>
          <p:cNvSpPr/>
          <p:nvPr/>
        </p:nvSpPr>
        <p:spPr>
          <a:xfrm>
            <a:off x="6720840" y="4407408"/>
            <a:ext cx="4343400" cy="1417320"/>
          </a:xfrm>
          <a:prstGeom prst="roundRect">
            <a:avLst>
              <a:gd name="adj" fmla="val 5161"/>
            </a:avLst>
          </a:prstGeom>
          <a:solidFill>
            <a:srgbClr val="F1F6FC"/>
          </a:solidFill>
          <a:ln w="12700">
            <a:solidFill>
              <a:srgbClr val="C6D9F0"/>
            </a:solidFill>
            <a:prstDash val="solid"/>
          </a:ln>
        </p:spPr>
      </p:sp>
      <p:sp>
        <p:nvSpPr>
          <p:cNvPr id="43" name="Text 33"/>
          <p:cNvSpPr/>
          <p:nvPr/>
        </p:nvSpPr>
        <p:spPr>
          <a:xfrm>
            <a:off x="7086600" y="4736592"/>
            <a:ext cx="3611880" cy="603504"/>
          </a:xfrm>
          <a:prstGeom prst="rect">
            <a:avLst/>
          </a:prstGeom>
          <a:noFill/>
          <a:ln/>
        </p:spPr>
        <p:txBody>
          <a:bodyPr wrap="square" lIns="0" tIns="0" rIns="0" bIns="0" rtlCol="0" anchor="ctr">
            <a:normAutofit/>
          </a:bodyPr>
          <a:lstStyle/>
          <a:p>
            <a:pPr algn="ctr" indent="0" marL="0">
              <a:buNone/>
            </a:pPr>
            <a:r>
              <a:rPr lang="en-US" sz="1900" b="1" dirty="0">
                <a:solidFill>
                  <a:srgbClr val="1E5AA8"/>
                </a:solidFill>
              </a:rPr>
              <a:t>The employee did not have to search three systems manually.</a:t>
            </a:r>
            <a:endParaRPr lang="en-US" sz="190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38912" y="347472"/>
            <a:ext cx="8641080" cy="502920"/>
          </a:xfrm>
          <a:prstGeom prst="rect">
            <a:avLst/>
          </a:prstGeom>
          <a:noFill/>
          <a:ln/>
        </p:spPr>
        <p:txBody>
          <a:bodyPr wrap="square" lIns="0" tIns="0" rIns="0" bIns="0" rtlCol="0" anchor="ctr">
            <a:normAutofit/>
          </a:bodyPr>
          <a:lstStyle/>
          <a:p>
            <a:pPr indent="0" marL="0">
              <a:buNone/>
            </a:pPr>
            <a:r>
              <a:rPr lang="en-US" sz="2650" b="1" dirty="0">
                <a:solidFill>
                  <a:srgbClr val="0B2E63"/>
                </a:solidFill>
                <a:latin typeface="Aptos Display" pitchFamily="34" charset="0"/>
                <a:ea typeface="Aptos Display" pitchFamily="34" charset="-122"/>
                <a:cs typeface="Aptos Display" pitchFamily="34" charset="-120"/>
              </a:rPr>
              <a:t>2. AI finds the right bank procedure</a:t>
            </a:r>
            <a:endParaRPr lang="en-US" sz="2650" dirty="0"/>
          </a:p>
        </p:txBody>
      </p:sp>
      <p:sp>
        <p:nvSpPr>
          <p:cNvPr id="3" name="Text 1"/>
          <p:cNvSpPr/>
          <p:nvPr/>
        </p:nvSpPr>
        <p:spPr>
          <a:xfrm>
            <a:off x="457200" y="896112"/>
            <a:ext cx="854964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It searches approved procedures and brings back the one that fits this situation.</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9482328" y="384048"/>
            <a:ext cx="2258568" cy="384048"/>
          </a:xfrm>
          <a:prstGeom prst="roundRect">
            <a:avLst>
              <a:gd name="adj" fmla="val 19048"/>
            </a:avLst>
          </a:prstGeom>
          <a:solidFill>
            <a:srgbClr val="FFF4D8"/>
          </a:solidFill>
          <a:ln w="12700">
            <a:solidFill>
              <a:srgbClr val="F0D58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19488" y="466344"/>
            <a:ext cx="146304" cy="146304"/>
          </a:xfrm>
          <a:prstGeom prst="rect">
            <a:avLst/>
          </a:prstGeom>
        </p:spPr>
      </p:pic>
      <p:sp>
        <p:nvSpPr>
          <p:cNvPr id="7" name="Text 4"/>
          <p:cNvSpPr/>
          <p:nvPr/>
        </p:nvSpPr>
        <p:spPr>
          <a:xfrm>
            <a:off x="9829800" y="457200"/>
            <a:ext cx="1719072" cy="164592"/>
          </a:xfrm>
          <a:prstGeom prst="rect">
            <a:avLst/>
          </a:prstGeom>
          <a:noFill/>
          <a:ln/>
        </p:spPr>
        <p:txBody>
          <a:bodyPr wrap="square" lIns="0" tIns="0" rIns="0" bIns="0" rtlCol="0" anchor="ctr">
            <a:normAutofit/>
          </a:bodyPr>
          <a:lstStyle/>
          <a:p>
            <a:pPr indent="0" marL="0">
              <a:buNone/>
            </a:pPr>
            <a:r>
              <a:rPr lang="en-US" sz="1030" b="1" dirty="0">
                <a:solidFill>
                  <a:srgbClr val="7A5716"/>
                </a:solidFill>
              </a:rPr>
              <a:t>SHOW POLICY</a:t>
            </a:r>
            <a:endParaRPr lang="en-US" sz="1030" dirty="0"/>
          </a:p>
        </p:txBody>
      </p:sp>
      <p:sp>
        <p:nvSpPr>
          <p:cNvPr id="8" name="Shape 5"/>
          <p:cNvSpPr/>
          <p:nvPr/>
        </p:nvSpPr>
        <p:spPr>
          <a:xfrm>
            <a:off x="685800" y="1389888"/>
            <a:ext cx="1965960" cy="347472"/>
          </a:xfrm>
          <a:prstGeom prst="roundRect">
            <a:avLst>
              <a:gd name="adj" fmla="val 21053"/>
            </a:avLst>
          </a:prstGeom>
          <a:solidFill>
            <a:srgbClr val="EAF2FB"/>
          </a:solidFill>
          <a:ln w="12700">
            <a:solidFill>
              <a:srgbClr val="D9E2EF"/>
            </a:solidFill>
            <a:prstDash val="solid"/>
          </a:ln>
        </p:spPr>
      </p:sp>
      <p:sp>
        <p:nvSpPr>
          <p:cNvPr id="9" name="Text 6"/>
          <p:cNvSpPr/>
          <p:nvPr/>
        </p:nvSpPr>
        <p:spPr>
          <a:xfrm>
            <a:off x="7589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1. Investigate</a:t>
            </a:r>
            <a:endParaRPr lang="en-US" sz="1050" dirty="0"/>
          </a:p>
        </p:txBody>
      </p:sp>
      <p:sp>
        <p:nvSpPr>
          <p:cNvPr id="10" name="Shape 7"/>
          <p:cNvSpPr/>
          <p:nvPr/>
        </p:nvSpPr>
        <p:spPr>
          <a:xfrm>
            <a:off x="2743200" y="1389888"/>
            <a:ext cx="1965960" cy="347472"/>
          </a:xfrm>
          <a:prstGeom prst="roundRect">
            <a:avLst>
              <a:gd name="adj" fmla="val 21053"/>
            </a:avLst>
          </a:prstGeom>
          <a:solidFill>
            <a:srgbClr val="0B2E63"/>
          </a:solidFill>
          <a:ln w="12700">
            <a:solidFill>
              <a:srgbClr val="0B2E63"/>
            </a:solidFill>
            <a:prstDash val="solid"/>
          </a:ln>
        </p:spPr>
      </p:sp>
      <p:sp>
        <p:nvSpPr>
          <p:cNvPr id="11" name="Text 8"/>
          <p:cNvSpPr/>
          <p:nvPr/>
        </p:nvSpPr>
        <p:spPr>
          <a:xfrm>
            <a:off x="28163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2. Find procedure</a:t>
            </a:r>
            <a:endParaRPr lang="en-US" sz="1050" dirty="0"/>
          </a:p>
        </p:txBody>
      </p:sp>
      <p:sp>
        <p:nvSpPr>
          <p:cNvPr id="12" name="Shape 9"/>
          <p:cNvSpPr/>
          <p:nvPr/>
        </p:nvSpPr>
        <p:spPr>
          <a:xfrm>
            <a:off x="4800600" y="1389888"/>
            <a:ext cx="1965960" cy="347472"/>
          </a:xfrm>
          <a:prstGeom prst="roundRect">
            <a:avLst>
              <a:gd name="adj" fmla="val 21053"/>
            </a:avLst>
          </a:prstGeom>
          <a:solidFill>
            <a:srgbClr val="EAF2FB"/>
          </a:solidFill>
          <a:ln w="12700">
            <a:solidFill>
              <a:srgbClr val="D9E2EF"/>
            </a:solidFill>
            <a:prstDash val="solid"/>
          </a:ln>
        </p:spPr>
      </p:sp>
      <p:sp>
        <p:nvSpPr>
          <p:cNvPr id="13" name="Text 10"/>
          <p:cNvSpPr/>
          <p:nvPr/>
        </p:nvSpPr>
        <p:spPr>
          <a:xfrm>
            <a:off x="48737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3. Recommend</a:t>
            </a:r>
            <a:endParaRPr lang="en-US" sz="1050" dirty="0"/>
          </a:p>
        </p:txBody>
      </p:sp>
      <p:sp>
        <p:nvSpPr>
          <p:cNvPr id="14" name="Shape 11"/>
          <p:cNvSpPr/>
          <p:nvPr/>
        </p:nvSpPr>
        <p:spPr>
          <a:xfrm>
            <a:off x="6858000" y="1389888"/>
            <a:ext cx="1965960" cy="347472"/>
          </a:xfrm>
          <a:prstGeom prst="roundRect">
            <a:avLst>
              <a:gd name="adj" fmla="val 21053"/>
            </a:avLst>
          </a:prstGeom>
          <a:solidFill>
            <a:srgbClr val="EAF2FB"/>
          </a:solidFill>
          <a:ln w="12700">
            <a:solidFill>
              <a:srgbClr val="D9E2EF"/>
            </a:solidFill>
            <a:prstDash val="solid"/>
          </a:ln>
        </p:spPr>
      </p:sp>
      <p:sp>
        <p:nvSpPr>
          <p:cNvPr id="15" name="Text 12"/>
          <p:cNvSpPr/>
          <p:nvPr/>
        </p:nvSpPr>
        <p:spPr>
          <a:xfrm>
            <a:off x="69311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4. Employee decides</a:t>
            </a:r>
            <a:endParaRPr lang="en-US" sz="1050" dirty="0"/>
          </a:p>
        </p:txBody>
      </p:sp>
      <p:sp>
        <p:nvSpPr>
          <p:cNvPr id="16" name="Shape 13"/>
          <p:cNvSpPr/>
          <p:nvPr/>
        </p:nvSpPr>
        <p:spPr>
          <a:xfrm>
            <a:off x="8915400" y="1389888"/>
            <a:ext cx="1965960" cy="347472"/>
          </a:xfrm>
          <a:prstGeom prst="roundRect">
            <a:avLst>
              <a:gd name="adj" fmla="val 21053"/>
            </a:avLst>
          </a:prstGeom>
          <a:solidFill>
            <a:srgbClr val="EAF2FB"/>
          </a:solidFill>
          <a:ln w="12700">
            <a:solidFill>
              <a:srgbClr val="D9E2EF"/>
            </a:solidFill>
            <a:prstDash val="solid"/>
          </a:ln>
        </p:spPr>
      </p:sp>
      <p:sp>
        <p:nvSpPr>
          <p:cNvPr id="17" name="Text 14"/>
          <p:cNvSpPr/>
          <p:nvPr/>
        </p:nvSpPr>
        <p:spPr>
          <a:xfrm>
            <a:off x="89885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5. Record action</a:t>
            </a:r>
            <a:endParaRPr lang="en-US" sz="1050" dirty="0"/>
          </a:p>
        </p:txBody>
      </p:sp>
      <p:sp>
        <p:nvSpPr>
          <p:cNvPr id="18" name="Shape 15"/>
          <p:cNvSpPr/>
          <p:nvPr/>
        </p:nvSpPr>
        <p:spPr>
          <a:xfrm>
            <a:off x="822960" y="2103120"/>
            <a:ext cx="3886200" cy="3182112"/>
          </a:xfrm>
          <a:prstGeom prst="roundRect">
            <a:avLst>
              <a:gd name="adj" fmla="val 2299"/>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19" name="Text 16"/>
          <p:cNvSpPr/>
          <p:nvPr/>
        </p:nvSpPr>
        <p:spPr>
          <a:xfrm>
            <a:off x="1143000" y="2395728"/>
            <a:ext cx="3246120" cy="320040"/>
          </a:xfrm>
          <a:prstGeom prst="rect">
            <a:avLst/>
          </a:prstGeom>
          <a:noFill/>
          <a:ln/>
        </p:spPr>
        <p:txBody>
          <a:bodyPr wrap="square" lIns="0" tIns="0" rIns="0" bIns="0" rtlCol="0" anchor="ctr"/>
          <a:lstStyle/>
          <a:p>
            <a:pPr algn="ctr" indent="0" marL="0">
              <a:buNone/>
            </a:pPr>
            <a:r>
              <a:rPr lang="en-US" sz="1900" b="1" dirty="0">
                <a:solidFill>
                  <a:srgbClr val="0B2E63"/>
                </a:solidFill>
              </a:rPr>
              <a:t>Bank procedures</a:t>
            </a:r>
            <a:endParaRPr lang="en-US" sz="1900" dirty="0"/>
          </a:p>
        </p:txBody>
      </p:sp>
      <p:sp>
        <p:nvSpPr>
          <p:cNvPr id="20" name="Shape 17"/>
          <p:cNvSpPr/>
          <p:nvPr/>
        </p:nvSpPr>
        <p:spPr>
          <a:xfrm>
            <a:off x="1188720" y="2926080"/>
            <a:ext cx="3154680" cy="475488"/>
          </a:xfrm>
          <a:prstGeom prst="roundRect">
            <a:avLst>
              <a:gd name="adj" fmla="val 15385"/>
            </a:avLst>
          </a:prstGeom>
          <a:solidFill>
            <a:srgbClr val="F7F9FC"/>
          </a:solidFill>
          <a:ln w="12700">
            <a:solidFill>
              <a:srgbClr val="D9E2EF"/>
            </a:solidFill>
            <a:prstDash val="solid"/>
          </a:ln>
        </p:spPr>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3312" y="3026664"/>
            <a:ext cx="210312" cy="210312"/>
          </a:xfrm>
          <a:prstGeom prst="rect">
            <a:avLst/>
          </a:prstGeom>
        </p:spPr>
      </p:pic>
      <p:sp>
        <p:nvSpPr>
          <p:cNvPr id="22" name="Text 18"/>
          <p:cNvSpPr/>
          <p:nvPr/>
        </p:nvSpPr>
        <p:spPr>
          <a:xfrm>
            <a:off x="1682496" y="3026664"/>
            <a:ext cx="640080" cy="164592"/>
          </a:xfrm>
          <a:prstGeom prst="rect">
            <a:avLst/>
          </a:prstGeom>
          <a:noFill/>
          <a:ln/>
        </p:spPr>
        <p:txBody>
          <a:bodyPr wrap="square" lIns="0" tIns="0" rIns="0" bIns="0" rtlCol="0" anchor="ctr"/>
          <a:lstStyle/>
          <a:p>
            <a:pPr indent="0" marL="0">
              <a:buNone/>
            </a:pPr>
            <a:r>
              <a:rPr lang="en-US" sz="1250" b="1" dirty="0">
                <a:solidFill>
                  <a:srgbClr val="64748B"/>
                </a:solidFill>
              </a:rPr>
              <a:t>CA-12</a:t>
            </a:r>
            <a:endParaRPr lang="en-US" sz="1250" dirty="0"/>
          </a:p>
        </p:txBody>
      </p:sp>
      <p:sp>
        <p:nvSpPr>
          <p:cNvPr id="23" name="Text 19"/>
          <p:cNvSpPr/>
          <p:nvPr/>
        </p:nvSpPr>
        <p:spPr>
          <a:xfrm>
            <a:off x="2304288" y="3008376"/>
            <a:ext cx="1783080" cy="201168"/>
          </a:xfrm>
          <a:prstGeom prst="rect">
            <a:avLst/>
          </a:prstGeom>
          <a:noFill/>
          <a:ln/>
        </p:spPr>
        <p:txBody>
          <a:bodyPr wrap="square" lIns="0" tIns="0" rIns="0" bIns="0" rtlCol="0" anchor="ctr">
            <a:normAutofit/>
          </a:bodyPr>
          <a:lstStyle/>
          <a:p>
            <a:pPr indent="0" marL="0">
              <a:buNone/>
            </a:pPr>
            <a:r>
              <a:rPr lang="en-US" sz="1220" dirty="0">
                <a:solidFill>
                  <a:srgbClr val="334155"/>
                </a:solidFill>
              </a:rPr>
              <a:t>Account status checks</a:t>
            </a:r>
            <a:endParaRPr lang="en-US" sz="1220" dirty="0"/>
          </a:p>
        </p:txBody>
      </p:sp>
      <p:sp>
        <p:nvSpPr>
          <p:cNvPr id="24" name="Shape 20"/>
          <p:cNvSpPr/>
          <p:nvPr/>
        </p:nvSpPr>
        <p:spPr>
          <a:xfrm>
            <a:off x="1188720" y="3566160"/>
            <a:ext cx="3154680" cy="475488"/>
          </a:xfrm>
          <a:prstGeom prst="roundRect">
            <a:avLst>
              <a:gd name="adj" fmla="val 15385"/>
            </a:avLst>
          </a:prstGeom>
          <a:solidFill>
            <a:srgbClr val="EAF2FB"/>
          </a:solidFill>
          <a:ln w="12700">
            <a:solidFill>
              <a:srgbClr val="9FC2E9"/>
            </a:solidFill>
            <a:prstDash val="solid"/>
          </a:ln>
        </p:spPr>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53312" y="3666744"/>
            <a:ext cx="210312" cy="210312"/>
          </a:xfrm>
          <a:prstGeom prst="rect">
            <a:avLst/>
          </a:prstGeom>
        </p:spPr>
      </p:pic>
      <p:sp>
        <p:nvSpPr>
          <p:cNvPr id="26" name="Text 21"/>
          <p:cNvSpPr/>
          <p:nvPr/>
        </p:nvSpPr>
        <p:spPr>
          <a:xfrm>
            <a:off x="1682496" y="3666744"/>
            <a:ext cx="640080" cy="164592"/>
          </a:xfrm>
          <a:prstGeom prst="rect">
            <a:avLst/>
          </a:prstGeom>
          <a:noFill/>
          <a:ln/>
        </p:spPr>
        <p:txBody>
          <a:bodyPr wrap="square" lIns="0" tIns="0" rIns="0" bIns="0" rtlCol="0" anchor="ctr"/>
          <a:lstStyle/>
          <a:p>
            <a:pPr indent="0" marL="0">
              <a:buNone/>
            </a:pPr>
            <a:r>
              <a:rPr lang="en-US" sz="1250" b="1" dirty="0">
                <a:solidFill>
                  <a:srgbClr val="1E5AA8"/>
                </a:solidFill>
              </a:rPr>
              <a:t>CV-04</a:t>
            </a:r>
            <a:endParaRPr lang="en-US" sz="1250" dirty="0"/>
          </a:p>
        </p:txBody>
      </p:sp>
      <p:sp>
        <p:nvSpPr>
          <p:cNvPr id="27" name="Text 22"/>
          <p:cNvSpPr/>
          <p:nvPr/>
        </p:nvSpPr>
        <p:spPr>
          <a:xfrm>
            <a:off x="2304288" y="3648456"/>
            <a:ext cx="1783080" cy="201168"/>
          </a:xfrm>
          <a:prstGeom prst="rect">
            <a:avLst/>
          </a:prstGeom>
          <a:noFill/>
          <a:ln/>
        </p:spPr>
        <p:txBody>
          <a:bodyPr wrap="square" lIns="0" tIns="0" rIns="0" bIns="0" rtlCol="0" anchor="ctr">
            <a:normAutofit/>
          </a:bodyPr>
          <a:lstStyle/>
          <a:p>
            <a:pPr indent="0" marL="0">
              <a:buNone/>
            </a:pPr>
            <a:r>
              <a:rPr lang="en-US" sz="1220" dirty="0">
                <a:solidFill>
                  <a:srgbClr val="334155"/>
                </a:solidFill>
              </a:rPr>
              <a:t>Card verification procedure</a:t>
            </a:r>
            <a:endParaRPr lang="en-US" sz="1220" dirty="0"/>
          </a:p>
        </p:txBody>
      </p:sp>
      <p:sp>
        <p:nvSpPr>
          <p:cNvPr id="28" name="Shape 23"/>
          <p:cNvSpPr/>
          <p:nvPr/>
        </p:nvSpPr>
        <p:spPr>
          <a:xfrm>
            <a:off x="1188720" y="4206240"/>
            <a:ext cx="3154680" cy="475488"/>
          </a:xfrm>
          <a:prstGeom prst="roundRect">
            <a:avLst>
              <a:gd name="adj" fmla="val 15385"/>
            </a:avLst>
          </a:prstGeom>
          <a:solidFill>
            <a:srgbClr val="F7F9FC"/>
          </a:solidFill>
          <a:ln w="12700">
            <a:solidFill>
              <a:srgbClr val="D9E2EF"/>
            </a:solidFill>
            <a:prstDash val="solid"/>
          </a:ln>
        </p:spPr>
      </p:sp>
      <p:pic>
        <p:nvPicPr>
          <p:cNvPr id="2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53312" y="4306824"/>
            <a:ext cx="210312" cy="210312"/>
          </a:xfrm>
          <a:prstGeom prst="rect">
            <a:avLst/>
          </a:prstGeom>
        </p:spPr>
      </p:pic>
      <p:sp>
        <p:nvSpPr>
          <p:cNvPr id="30" name="Text 24"/>
          <p:cNvSpPr/>
          <p:nvPr/>
        </p:nvSpPr>
        <p:spPr>
          <a:xfrm>
            <a:off x="1682496" y="4306824"/>
            <a:ext cx="640080" cy="164592"/>
          </a:xfrm>
          <a:prstGeom prst="rect">
            <a:avLst/>
          </a:prstGeom>
          <a:noFill/>
          <a:ln/>
        </p:spPr>
        <p:txBody>
          <a:bodyPr wrap="square" lIns="0" tIns="0" rIns="0" bIns="0" rtlCol="0" anchor="ctr"/>
          <a:lstStyle/>
          <a:p>
            <a:pPr indent="0" marL="0">
              <a:buNone/>
            </a:pPr>
            <a:r>
              <a:rPr lang="en-US" sz="1250" b="1" dirty="0">
                <a:solidFill>
                  <a:srgbClr val="64748B"/>
                </a:solidFill>
              </a:rPr>
              <a:t>FR-09</a:t>
            </a:r>
            <a:endParaRPr lang="en-US" sz="1250" dirty="0"/>
          </a:p>
        </p:txBody>
      </p:sp>
      <p:sp>
        <p:nvSpPr>
          <p:cNvPr id="31" name="Text 25"/>
          <p:cNvSpPr/>
          <p:nvPr/>
        </p:nvSpPr>
        <p:spPr>
          <a:xfrm>
            <a:off x="2304288" y="4288536"/>
            <a:ext cx="1783080" cy="201168"/>
          </a:xfrm>
          <a:prstGeom prst="rect">
            <a:avLst/>
          </a:prstGeom>
          <a:noFill/>
          <a:ln/>
        </p:spPr>
        <p:txBody>
          <a:bodyPr wrap="square" lIns="0" tIns="0" rIns="0" bIns="0" rtlCol="0" anchor="ctr">
            <a:normAutofit/>
          </a:bodyPr>
          <a:lstStyle/>
          <a:p>
            <a:pPr indent="0" marL="0">
              <a:buNone/>
            </a:pPr>
            <a:r>
              <a:rPr lang="en-US" sz="1220" dirty="0">
                <a:solidFill>
                  <a:srgbClr val="334155"/>
                </a:solidFill>
              </a:rPr>
              <a:t>Fraud analyst procedure</a:t>
            </a:r>
            <a:endParaRPr lang="en-US" sz="1220" dirty="0"/>
          </a:p>
        </p:txBody>
      </p:sp>
      <p:sp>
        <p:nvSpPr>
          <p:cNvPr id="32" name="Shape 26"/>
          <p:cNvSpPr/>
          <p:nvPr/>
        </p:nvSpPr>
        <p:spPr>
          <a:xfrm>
            <a:off x="5074920" y="3383280"/>
            <a:ext cx="475488" cy="292608"/>
          </a:xfrm>
          <a:prstGeom prst="chevron">
            <a:avLst/>
          </a:prstGeom>
          <a:solidFill>
            <a:srgbClr val="1E5AA8"/>
          </a:solidFill>
          <a:ln w="12700">
            <a:solidFill>
              <a:srgbClr val="1E5AA8"/>
            </a:solidFill>
            <a:prstDash val="solid"/>
          </a:ln>
        </p:spPr>
      </p:sp>
      <p:sp>
        <p:nvSpPr>
          <p:cNvPr id="33" name="Shape 27"/>
          <p:cNvSpPr/>
          <p:nvPr/>
        </p:nvSpPr>
        <p:spPr>
          <a:xfrm>
            <a:off x="5824728" y="2331720"/>
            <a:ext cx="5102352" cy="2286000"/>
          </a:xfrm>
          <a:prstGeom prst="roundRect">
            <a:avLst>
              <a:gd name="adj" fmla="val 3200"/>
            </a:avLst>
          </a:prstGeom>
          <a:solidFill>
            <a:srgbClr val="F1F6FC"/>
          </a:solidFill>
          <a:ln w="12700">
            <a:solidFill>
              <a:srgbClr val="C6D9F0"/>
            </a:solidFill>
            <a:prstDash val="solid"/>
          </a:ln>
          <a:effectLst>
            <a:outerShdw sx="100000" sy="100000" kx="0" ky="0" algn="bl" rotWithShape="0" blurRad="19050" dist="50800" dir="2700000">
              <a:srgbClr val="C8D4E3">
                <a:alpha val="14000"/>
              </a:srgbClr>
            </a:outerShdw>
          </a:effectLst>
        </p:spPr>
      </p:sp>
      <p:pic>
        <p:nvPicPr>
          <p:cNvPr id="3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72200" y="2670048"/>
            <a:ext cx="393192" cy="393192"/>
          </a:xfrm>
          <a:prstGeom prst="rect">
            <a:avLst/>
          </a:prstGeom>
        </p:spPr>
      </p:pic>
      <p:sp>
        <p:nvSpPr>
          <p:cNvPr id="35" name="Text 28"/>
          <p:cNvSpPr/>
          <p:nvPr/>
        </p:nvSpPr>
        <p:spPr>
          <a:xfrm>
            <a:off x="6748272" y="2596896"/>
            <a:ext cx="2880360" cy="320040"/>
          </a:xfrm>
          <a:prstGeom prst="rect">
            <a:avLst/>
          </a:prstGeom>
          <a:noFill/>
          <a:ln/>
        </p:spPr>
        <p:txBody>
          <a:bodyPr wrap="square" lIns="0" tIns="0" rIns="0" bIns="0" rtlCol="0" anchor="ctr"/>
          <a:lstStyle/>
          <a:p>
            <a:pPr indent="0" marL="0">
              <a:buNone/>
            </a:pPr>
            <a:r>
              <a:rPr lang="en-US" sz="2100" b="1" dirty="0">
                <a:solidFill>
                  <a:srgbClr val="0B2E63"/>
                </a:solidFill>
              </a:rPr>
              <a:t>Best match: CV-04</a:t>
            </a:r>
            <a:endParaRPr lang="en-US" sz="2100" dirty="0"/>
          </a:p>
        </p:txBody>
      </p:sp>
      <p:sp>
        <p:nvSpPr>
          <p:cNvPr id="36" name="Text 29"/>
          <p:cNvSpPr/>
          <p:nvPr/>
        </p:nvSpPr>
        <p:spPr>
          <a:xfrm>
            <a:off x="6309360" y="3255264"/>
            <a:ext cx="4133088" cy="758952"/>
          </a:xfrm>
          <a:prstGeom prst="rect">
            <a:avLst/>
          </a:prstGeom>
          <a:noFill/>
          <a:ln/>
        </p:spPr>
        <p:txBody>
          <a:bodyPr wrap="square" lIns="0" tIns="0" rIns="0" bIns="0" rtlCol="0" anchor="ctr">
            <a:normAutofit/>
          </a:bodyPr>
          <a:lstStyle/>
          <a:p>
            <a:pPr algn="ctr" indent="0" marL="0">
              <a:buNone/>
            </a:pPr>
            <a:r>
              <a:rPr lang="en-US" sz="1800" i="1" dirty="0">
                <a:solidFill>
                  <a:srgbClr val="334155"/>
                </a:solidFill>
              </a:rPr>
              <a:t>“Ask the customer to confirm they made the purchase before allowing a retry.”</a:t>
            </a:r>
            <a:endParaRPr lang="en-US" sz="1800" dirty="0"/>
          </a:p>
        </p:txBody>
      </p:sp>
      <p:sp>
        <p:nvSpPr>
          <p:cNvPr id="37" name="Shape 30"/>
          <p:cNvSpPr/>
          <p:nvPr/>
        </p:nvSpPr>
        <p:spPr>
          <a:xfrm>
            <a:off x="6016752" y="4956048"/>
            <a:ext cx="4709160" cy="713232"/>
          </a:xfrm>
          <a:prstGeom prst="roundRect">
            <a:avLst>
              <a:gd name="adj" fmla="val 10256"/>
            </a:avLst>
          </a:prstGeom>
          <a:solidFill>
            <a:srgbClr val="E7F5EC"/>
          </a:solidFill>
          <a:ln w="12700">
            <a:solidFill>
              <a:srgbClr val="B9DEC7"/>
            </a:solidFill>
            <a:prstDash val="solid"/>
          </a:ln>
        </p:spPr>
      </p:sp>
      <p:pic>
        <p:nvPicPr>
          <p:cNvPr id="3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91072" y="5148072"/>
            <a:ext cx="219456" cy="219456"/>
          </a:xfrm>
          <a:prstGeom prst="rect">
            <a:avLst/>
          </a:prstGeom>
        </p:spPr>
      </p:pic>
      <p:sp>
        <p:nvSpPr>
          <p:cNvPr id="39" name="Text 31"/>
          <p:cNvSpPr/>
          <p:nvPr/>
        </p:nvSpPr>
        <p:spPr>
          <a:xfrm>
            <a:off x="6675120" y="5111496"/>
            <a:ext cx="3749040" cy="292608"/>
          </a:xfrm>
          <a:prstGeom prst="rect">
            <a:avLst/>
          </a:prstGeom>
          <a:noFill/>
          <a:ln/>
        </p:spPr>
        <p:txBody>
          <a:bodyPr wrap="square" lIns="0" tIns="0" rIns="0" bIns="0" rtlCol="0" anchor="ctr">
            <a:normAutofit/>
          </a:bodyPr>
          <a:lstStyle/>
          <a:p>
            <a:pPr indent="0" marL="0">
              <a:buNone/>
            </a:pPr>
            <a:r>
              <a:rPr lang="en-US" sz="1430" b="1" dirty="0">
                <a:solidFill>
                  <a:srgbClr val="1B6038"/>
                </a:solidFill>
              </a:rPr>
              <a:t>The AI only searches procedures the employee is allowed to use.</a:t>
            </a:r>
            <a:endParaRPr lang="en-US" sz="143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38912" y="347472"/>
            <a:ext cx="8641080" cy="502920"/>
          </a:xfrm>
          <a:prstGeom prst="rect">
            <a:avLst/>
          </a:prstGeom>
          <a:noFill/>
          <a:ln/>
        </p:spPr>
        <p:txBody>
          <a:bodyPr wrap="square" lIns="0" tIns="0" rIns="0" bIns="0" rtlCol="0" anchor="ctr">
            <a:normAutofit/>
          </a:bodyPr>
          <a:lstStyle/>
          <a:p>
            <a:pPr indent="0" marL="0">
              <a:buNone/>
            </a:pPr>
            <a:r>
              <a:rPr lang="en-US" sz="2650" b="1" dirty="0">
                <a:solidFill>
                  <a:srgbClr val="0B2E63"/>
                </a:solidFill>
                <a:latin typeface="Aptos Display" pitchFamily="34" charset="0"/>
                <a:ea typeface="Aptos Display" pitchFamily="34" charset="-122"/>
                <a:cs typeface="Aptos Display" pitchFamily="34" charset="-120"/>
              </a:rPr>
              <a:t>3. AI explains what happened and suggests the next step</a:t>
            </a:r>
            <a:endParaRPr lang="en-US" sz="2650" dirty="0"/>
          </a:p>
        </p:txBody>
      </p:sp>
      <p:sp>
        <p:nvSpPr>
          <p:cNvPr id="3" name="Text 1"/>
          <p:cNvSpPr/>
          <p:nvPr/>
        </p:nvSpPr>
        <p:spPr>
          <a:xfrm>
            <a:off x="457200" y="896112"/>
            <a:ext cx="854964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It turns the gathered facts and the bank procedure into a clear recommendation.</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9482328" y="384048"/>
            <a:ext cx="2258568" cy="384048"/>
          </a:xfrm>
          <a:prstGeom prst="roundRect">
            <a:avLst>
              <a:gd name="adj" fmla="val 19048"/>
            </a:avLst>
          </a:prstGeom>
          <a:solidFill>
            <a:srgbClr val="FFF4D8"/>
          </a:solidFill>
          <a:ln w="12700">
            <a:solidFill>
              <a:srgbClr val="F0D58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19488" y="466344"/>
            <a:ext cx="146304" cy="146304"/>
          </a:xfrm>
          <a:prstGeom prst="rect">
            <a:avLst/>
          </a:prstGeom>
        </p:spPr>
      </p:pic>
      <p:sp>
        <p:nvSpPr>
          <p:cNvPr id="7" name="Text 4"/>
          <p:cNvSpPr/>
          <p:nvPr/>
        </p:nvSpPr>
        <p:spPr>
          <a:xfrm>
            <a:off x="9829800" y="457200"/>
            <a:ext cx="1719072" cy="164592"/>
          </a:xfrm>
          <a:prstGeom prst="rect">
            <a:avLst/>
          </a:prstGeom>
          <a:noFill/>
          <a:ln/>
        </p:spPr>
        <p:txBody>
          <a:bodyPr wrap="square" lIns="0" tIns="0" rIns="0" bIns="0" rtlCol="0" anchor="ctr">
            <a:normAutofit/>
          </a:bodyPr>
          <a:lstStyle/>
          <a:p>
            <a:pPr indent="0" marL="0">
              <a:buNone/>
            </a:pPr>
            <a:r>
              <a:rPr lang="en-US" sz="1030" b="1" dirty="0">
                <a:solidFill>
                  <a:srgbClr val="7A5716"/>
                </a:solidFill>
              </a:rPr>
              <a:t>SHOW ANSWER</a:t>
            </a:r>
            <a:endParaRPr lang="en-US" sz="1030" dirty="0"/>
          </a:p>
        </p:txBody>
      </p:sp>
      <p:sp>
        <p:nvSpPr>
          <p:cNvPr id="8" name="Shape 5"/>
          <p:cNvSpPr/>
          <p:nvPr/>
        </p:nvSpPr>
        <p:spPr>
          <a:xfrm>
            <a:off x="685800" y="1389888"/>
            <a:ext cx="1965960" cy="347472"/>
          </a:xfrm>
          <a:prstGeom prst="roundRect">
            <a:avLst>
              <a:gd name="adj" fmla="val 21053"/>
            </a:avLst>
          </a:prstGeom>
          <a:solidFill>
            <a:srgbClr val="EAF2FB"/>
          </a:solidFill>
          <a:ln w="12700">
            <a:solidFill>
              <a:srgbClr val="D9E2EF"/>
            </a:solidFill>
            <a:prstDash val="solid"/>
          </a:ln>
        </p:spPr>
      </p:sp>
      <p:sp>
        <p:nvSpPr>
          <p:cNvPr id="9" name="Text 6"/>
          <p:cNvSpPr/>
          <p:nvPr/>
        </p:nvSpPr>
        <p:spPr>
          <a:xfrm>
            <a:off x="7589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1. Investigate</a:t>
            </a:r>
            <a:endParaRPr lang="en-US" sz="1050" dirty="0"/>
          </a:p>
        </p:txBody>
      </p:sp>
      <p:sp>
        <p:nvSpPr>
          <p:cNvPr id="10" name="Shape 7"/>
          <p:cNvSpPr/>
          <p:nvPr/>
        </p:nvSpPr>
        <p:spPr>
          <a:xfrm>
            <a:off x="2743200" y="1389888"/>
            <a:ext cx="1965960" cy="347472"/>
          </a:xfrm>
          <a:prstGeom prst="roundRect">
            <a:avLst>
              <a:gd name="adj" fmla="val 21053"/>
            </a:avLst>
          </a:prstGeom>
          <a:solidFill>
            <a:srgbClr val="EAF2FB"/>
          </a:solidFill>
          <a:ln w="12700">
            <a:solidFill>
              <a:srgbClr val="D9E2EF"/>
            </a:solidFill>
            <a:prstDash val="solid"/>
          </a:ln>
        </p:spPr>
      </p:sp>
      <p:sp>
        <p:nvSpPr>
          <p:cNvPr id="11" name="Text 8"/>
          <p:cNvSpPr/>
          <p:nvPr/>
        </p:nvSpPr>
        <p:spPr>
          <a:xfrm>
            <a:off x="28163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2. Find procedure</a:t>
            </a:r>
            <a:endParaRPr lang="en-US" sz="1050" dirty="0"/>
          </a:p>
        </p:txBody>
      </p:sp>
      <p:sp>
        <p:nvSpPr>
          <p:cNvPr id="12" name="Shape 9"/>
          <p:cNvSpPr/>
          <p:nvPr/>
        </p:nvSpPr>
        <p:spPr>
          <a:xfrm>
            <a:off x="4800600" y="1389888"/>
            <a:ext cx="1965960" cy="347472"/>
          </a:xfrm>
          <a:prstGeom prst="roundRect">
            <a:avLst>
              <a:gd name="adj" fmla="val 21053"/>
            </a:avLst>
          </a:prstGeom>
          <a:solidFill>
            <a:srgbClr val="0B2E63"/>
          </a:solidFill>
          <a:ln w="12700">
            <a:solidFill>
              <a:srgbClr val="0B2E63"/>
            </a:solidFill>
            <a:prstDash val="solid"/>
          </a:ln>
        </p:spPr>
      </p:sp>
      <p:sp>
        <p:nvSpPr>
          <p:cNvPr id="13" name="Text 10"/>
          <p:cNvSpPr/>
          <p:nvPr/>
        </p:nvSpPr>
        <p:spPr>
          <a:xfrm>
            <a:off x="48737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3. Recommend</a:t>
            </a:r>
            <a:endParaRPr lang="en-US" sz="1050" dirty="0"/>
          </a:p>
        </p:txBody>
      </p:sp>
      <p:sp>
        <p:nvSpPr>
          <p:cNvPr id="14" name="Shape 11"/>
          <p:cNvSpPr/>
          <p:nvPr/>
        </p:nvSpPr>
        <p:spPr>
          <a:xfrm>
            <a:off x="6858000" y="1389888"/>
            <a:ext cx="1965960" cy="347472"/>
          </a:xfrm>
          <a:prstGeom prst="roundRect">
            <a:avLst>
              <a:gd name="adj" fmla="val 21053"/>
            </a:avLst>
          </a:prstGeom>
          <a:solidFill>
            <a:srgbClr val="EAF2FB"/>
          </a:solidFill>
          <a:ln w="12700">
            <a:solidFill>
              <a:srgbClr val="D9E2EF"/>
            </a:solidFill>
            <a:prstDash val="solid"/>
          </a:ln>
        </p:spPr>
      </p:sp>
      <p:sp>
        <p:nvSpPr>
          <p:cNvPr id="15" name="Text 12"/>
          <p:cNvSpPr/>
          <p:nvPr/>
        </p:nvSpPr>
        <p:spPr>
          <a:xfrm>
            <a:off x="69311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4. Employee decides</a:t>
            </a:r>
            <a:endParaRPr lang="en-US" sz="1050" dirty="0"/>
          </a:p>
        </p:txBody>
      </p:sp>
      <p:sp>
        <p:nvSpPr>
          <p:cNvPr id="16" name="Shape 13"/>
          <p:cNvSpPr/>
          <p:nvPr/>
        </p:nvSpPr>
        <p:spPr>
          <a:xfrm>
            <a:off x="8915400" y="1389888"/>
            <a:ext cx="1965960" cy="347472"/>
          </a:xfrm>
          <a:prstGeom prst="roundRect">
            <a:avLst>
              <a:gd name="adj" fmla="val 21053"/>
            </a:avLst>
          </a:prstGeom>
          <a:solidFill>
            <a:srgbClr val="EAF2FB"/>
          </a:solidFill>
          <a:ln w="12700">
            <a:solidFill>
              <a:srgbClr val="D9E2EF"/>
            </a:solidFill>
            <a:prstDash val="solid"/>
          </a:ln>
        </p:spPr>
      </p:sp>
      <p:sp>
        <p:nvSpPr>
          <p:cNvPr id="17" name="Text 14"/>
          <p:cNvSpPr/>
          <p:nvPr/>
        </p:nvSpPr>
        <p:spPr>
          <a:xfrm>
            <a:off x="89885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5. Record action</a:t>
            </a:r>
            <a:endParaRPr lang="en-US" sz="1050" dirty="0"/>
          </a:p>
        </p:txBody>
      </p:sp>
      <p:sp>
        <p:nvSpPr>
          <p:cNvPr id="18" name="Shape 15"/>
          <p:cNvSpPr/>
          <p:nvPr/>
        </p:nvSpPr>
        <p:spPr>
          <a:xfrm>
            <a:off x="777240" y="2139696"/>
            <a:ext cx="3108960" cy="3200400"/>
          </a:xfrm>
          <a:prstGeom prst="roundRect">
            <a:avLst>
              <a:gd name="adj" fmla="val 2353"/>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19" name="Text 16"/>
          <p:cNvSpPr/>
          <p:nvPr/>
        </p:nvSpPr>
        <p:spPr>
          <a:xfrm>
            <a:off x="1078992" y="2450592"/>
            <a:ext cx="2523744" cy="310896"/>
          </a:xfrm>
          <a:prstGeom prst="rect">
            <a:avLst/>
          </a:prstGeom>
          <a:noFill/>
          <a:ln/>
        </p:spPr>
        <p:txBody>
          <a:bodyPr wrap="square" lIns="0" tIns="0" rIns="0" bIns="0" rtlCol="0" anchor="ctr"/>
          <a:lstStyle/>
          <a:p>
            <a:pPr algn="ctr" indent="0" marL="0">
              <a:buNone/>
            </a:pPr>
            <a:r>
              <a:rPr lang="en-US" sz="1800" b="1" dirty="0">
                <a:solidFill>
                  <a:srgbClr val="0B2E63"/>
                </a:solidFill>
              </a:rPr>
              <a:t>What the AI knows</a:t>
            </a:r>
            <a:endParaRPr lang="en-US" sz="18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1560" y="3008376"/>
            <a:ext cx="201168" cy="201168"/>
          </a:xfrm>
          <a:prstGeom prst="rect">
            <a:avLst/>
          </a:prstGeom>
        </p:spPr>
      </p:pic>
      <p:sp>
        <p:nvSpPr>
          <p:cNvPr id="21" name="Text 17"/>
          <p:cNvSpPr/>
          <p:nvPr/>
        </p:nvSpPr>
        <p:spPr>
          <a:xfrm>
            <a:off x="1362456" y="2999232"/>
            <a:ext cx="2176272"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Account is active</a:t>
            </a:r>
            <a:endParaRPr lang="en-US" sz="1500" dirty="0"/>
          </a:p>
        </p:txBody>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1560" y="3520440"/>
            <a:ext cx="201168" cy="201168"/>
          </a:xfrm>
          <a:prstGeom prst="rect">
            <a:avLst/>
          </a:prstGeom>
        </p:spPr>
      </p:pic>
      <p:sp>
        <p:nvSpPr>
          <p:cNvPr id="23" name="Text 18"/>
          <p:cNvSpPr/>
          <p:nvPr/>
        </p:nvSpPr>
        <p:spPr>
          <a:xfrm>
            <a:off x="1362456" y="3511296"/>
            <a:ext cx="2176272"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Funds are available</a:t>
            </a:r>
            <a:endParaRPr lang="en-US" sz="1500" dirty="0"/>
          </a:p>
        </p:txBody>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1560" y="4032504"/>
            <a:ext cx="201168" cy="201168"/>
          </a:xfrm>
          <a:prstGeom prst="rect">
            <a:avLst/>
          </a:prstGeom>
        </p:spPr>
      </p:pic>
      <p:sp>
        <p:nvSpPr>
          <p:cNvPr id="25" name="Text 19"/>
          <p:cNvSpPr/>
          <p:nvPr/>
        </p:nvSpPr>
        <p:spPr>
          <a:xfrm>
            <a:off x="1362456" y="4023360"/>
            <a:ext cx="2295144" cy="256032"/>
          </a:xfrm>
          <a:prstGeom prst="rect">
            <a:avLst/>
          </a:prstGeom>
          <a:noFill/>
          <a:ln/>
        </p:spPr>
        <p:txBody>
          <a:bodyPr wrap="square" lIns="0" tIns="0" rIns="0" bIns="0" rtlCol="0" anchor="ctr">
            <a:normAutofit/>
          </a:bodyPr>
          <a:lstStyle/>
          <a:p>
            <a:pPr indent="0" marL="0">
              <a:buNone/>
            </a:pPr>
            <a:r>
              <a:rPr lang="en-US" sz="1400" dirty="0">
                <a:solidFill>
                  <a:srgbClr val="334155"/>
                </a:solidFill>
              </a:rPr>
              <a:t>Fraud control blocked purchase</a:t>
            </a:r>
            <a:endParaRPr lang="en-US" sz="1400" dirty="0"/>
          </a:p>
        </p:txBody>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1560" y="4544568"/>
            <a:ext cx="201168" cy="201168"/>
          </a:xfrm>
          <a:prstGeom prst="rect">
            <a:avLst/>
          </a:prstGeom>
        </p:spPr>
      </p:pic>
      <p:sp>
        <p:nvSpPr>
          <p:cNvPr id="27" name="Text 20"/>
          <p:cNvSpPr/>
          <p:nvPr/>
        </p:nvSpPr>
        <p:spPr>
          <a:xfrm>
            <a:off x="1362456" y="4535424"/>
            <a:ext cx="2176272" cy="256032"/>
          </a:xfrm>
          <a:prstGeom prst="rect">
            <a:avLst/>
          </a:prstGeom>
          <a:noFill/>
          <a:ln/>
        </p:spPr>
        <p:txBody>
          <a:bodyPr wrap="square" lIns="0" tIns="0" rIns="0" bIns="0" rtlCol="0" anchor="ctr">
            <a:normAutofit/>
          </a:bodyPr>
          <a:lstStyle/>
          <a:p>
            <a:pPr indent="0" marL="0">
              <a:buNone/>
            </a:pPr>
            <a:r>
              <a:rPr lang="en-US" sz="1450" dirty="0">
                <a:solidFill>
                  <a:srgbClr val="334155"/>
                </a:solidFill>
              </a:rPr>
              <a:t>CV-04 applies</a:t>
            </a:r>
            <a:endParaRPr lang="en-US" sz="1450" dirty="0"/>
          </a:p>
        </p:txBody>
      </p:sp>
      <p:sp>
        <p:nvSpPr>
          <p:cNvPr id="28" name="Shape 21"/>
          <p:cNvSpPr/>
          <p:nvPr/>
        </p:nvSpPr>
        <p:spPr>
          <a:xfrm>
            <a:off x="4160520" y="3483864"/>
            <a:ext cx="493776" cy="292608"/>
          </a:xfrm>
          <a:prstGeom prst="chevron">
            <a:avLst/>
          </a:prstGeom>
          <a:solidFill>
            <a:srgbClr val="1E5AA8"/>
          </a:solidFill>
          <a:ln w="12700">
            <a:solidFill>
              <a:srgbClr val="1E5AA8"/>
            </a:solidFill>
            <a:prstDash val="solid"/>
          </a:ln>
        </p:spPr>
      </p:sp>
      <p:sp>
        <p:nvSpPr>
          <p:cNvPr id="29" name="Shape 22"/>
          <p:cNvSpPr/>
          <p:nvPr/>
        </p:nvSpPr>
        <p:spPr>
          <a:xfrm>
            <a:off x="4828032" y="2194560"/>
            <a:ext cx="6217920" cy="3090672"/>
          </a:xfrm>
          <a:prstGeom prst="roundRect">
            <a:avLst>
              <a:gd name="adj" fmla="val 2367"/>
            </a:avLst>
          </a:prstGeom>
          <a:solidFill>
            <a:srgbClr val="F1F6FC"/>
          </a:solidFill>
          <a:ln w="12700">
            <a:solidFill>
              <a:srgbClr val="BCD2EB"/>
            </a:solidFill>
            <a:prstDash val="solid"/>
          </a:ln>
          <a:effectLst>
            <a:outerShdw sx="100000" sy="100000" kx="0" ky="0" algn="bl" rotWithShape="0" blurRad="19050" dist="50800" dir="2700000">
              <a:srgbClr val="C8D4E3">
                <a:alpha val="14000"/>
              </a:srgbClr>
            </a:outerShdw>
          </a:effectLst>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75504" y="2532888"/>
            <a:ext cx="438912" cy="438912"/>
          </a:xfrm>
          <a:prstGeom prst="rect">
            <a:avLst/>
          </a:prstGeom>
        </p:spPr>
      </p:pic>
      <p:sp>
        <p:nvSpPr>
          <p:cNvPr id="31" name="Text 23"/>
          <p:cNvSpPr/>
          <p:nvPr/>
        </p:nvSpPr>
        <p:spPr>
          <a:xfrm>
            <a:off x="5806440" y="2487168"/>
            <a:ext cx="4434840" cy="310896"/>
          </a:xfrm>
          <a:prstGeom prst="rect">
            <a:avLst/>
          </a:prstGeom>
          <a:noFill/>
          <a:ln/>
        </p:spPr>
        <p:txBody>
          <a:bodyPr wrap="square" lIns="0" tIns="0" rIns="0" bIns="0" rtlCol="0" anchor="ctr"/>
          <a:lstStyle/>
          <a:p>
            <a:pPr indent="0" marL="0">
              <a:buNone/>
            </a:pPr>
            <a:r>
              <a:rPr lang="en-US" sz="1800" b="1" dirty="0">
                <a:solidFill>
                  <a:srgbClr val="0B2E63"/>
                </a:solidFill>
              </a:rPr>
              <a:t>Suggested response to the employee</a:t>
            </a:r>
            <a:endParaRPr lang="en-US" sz="1800" dirty="0"/>
          </a:p>
        </p:txBody>
      </p:sp>
      <p:sp>
        <p:nvSpPr>
          <p:cNvPr id="32" name="Text 24"/>
          <p:cNvSpPr/>
          <p:nvPr/>
        </p:nvSpPr>
        <p:spPr>
          <a:xfrm>
            <a:off x="5212080" y="3136392"/>
            <a:ext cx="5321808" cy="1335024"/>
          </a:xfrm>
          <a:prstGeom prst="rect">
            <a:avLst/>
          </a:prstGeom>
          <a:noFill/>
          <a:ln/>
        </p:spPr>
        <p:txBody>
          <a:bodyPr wrap="square" lIns="0" tIns="0" rIns="0" bIns="0" rtlCol="0" anchor="ctr">
            <a:normAutofit/>
          </a:bodyPr>
          <a:lstStyle/>
          <a:p>
            <a:pPr indent="0" marL="0">
              <a:buNone/>
            </a:pPr>
            <a:r>
              <a:rPr lang="en-US" sz="1700" dirty="0">
                <a:solidFill>
                  <a:srgbClr val="334155"/>
                </a:solidFill>
              </a:rPr>
              <a:t>The account is active and there are enough funds. The purchase was declined because it triggered an unusual-spending control. Ask Jane to confirm that she made the purchase. If she confirms it, the transaction can be prepared for retry under procedure CV-04.</a:t>
            </a:r>
            <a:endParaRPr lang="en-US" sz="1700" dirty="0"/>
          </a:p>
        </p:txBody>
      </p:sp>
      <p:sp>
        <p:nvSpPr>
          <p:cNvPr id="33" name="Text 25"/>
          <p:cNvSpPr/>
          <p:nvPr/>
        </p:nvSpPr>
        <p:spPr>
          <a:xfrm>
            <a:off x="5257800" y="4727448"/>
            <a:ext cx="5230368" cy="274320"/>
          </a:xfrm>
          <a:prstGeom prst="rect">
            <a:avLst/>
          </a:prstGeom>
          <a:noFill/>
          <a:ln/>
        </p:spPr>
        <p:txBody>
          <a:bodyPr wrap="square" lIns="0" tIns="0" rIns="0" bIns="0" rtlCol="0" anchor="ctr">
            <a:normAutofit/>
          </a:bodyPr>
          <a:lstStyle/>
          <a:p>
            <a:pPr algn="ctr" indent="0" marL="0">
              <a:buNone/>
            </a:pPr>
            <a:r>
              <a:rPr lang="en-US" sz="1530" b="1" dirty="0">
                <a:solidFill>
                  <a:srgbClr val="1E5AA8"/>
                </a:solidFill>
              </a:rPr>
              <a:t>AI recommends. It does not make the final banking decision.</a:t>
            </a:r>
            <a:endParaRPr lang="en-US" sz="153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38912" y="347472"/>
            <a:ext cx="8641080" cy="502920"/>
          </a:xfrm>
          <a:prstGeom prst="rect">
            <a:avLst/>
          </a:prstGeom>
          <a:noFill/>
          <a:ln/>
        </p:spPr>
        <p:txBody>
          <a:bodyPr wrap="square" lIns="0" tIns="0" rIns="0" bIns="0" rtlCol="0" anchor="ctr">
            <a:normAutofit/>
          </a:bodyPr>
          <a:lstStyle/>
          <a:p>
            <a:pPr indent="0" marL="0">
              <a:buNone/>
            </a:pPr>
            <a:r>
              <a:rPr lang="en-US" sz="2650" b="1" dirty="0">
                <a:solidFill>
                  <a:srgbClr val="0B2E63"/>
                </a:solidFill>
                <a:latin typeface="Aptos Display" pitchFamily="34" charset="0"/>
                <a:ea typeface="Aptos Display" pitchFamily="34" charset="-122"/>
                <a:cs typeface="Aptos Display" pitchFamily="34" charset="-120"/>
              </a:rPr>
              <a:t>4. The employee makes the decision</a:t>
            </a:r>
            <a:endParaRPr lang="en-US" sz="2650" dirty="0"/>
          </a:p>
        </p:txBody>
      </p:sp>
      <p:sp>
        <p:nvSpPr>
          <p:cNvPr id="3" name="Text 1"/>
          <p:cNvSpPr/>
          <p:nvPr/>
        </p:nvSpPr>
        <p:spPr>
          <a:xfrm>
            <a:off x="457200" y="896112"/>
            <a:ext cx="854964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This is the most important control in the demo.</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9482328" y="384048"/>
            <a:ext cx="2258568" cy="384048"/>
          </a:xfrm>
          <a:prstGeom prst="roundRect">
            <a:avLst>
              <a:gd name="adj" fmla="val 19048"/>
            </a:avLst>
          </a:prstGeom>
          <a:solidFill>
            <a:srgbClr val="FFF4D8"/>
          </a:solidFill>
          <a:ln w="12700">
            <a:solidFill>
              <a:srgbClr val="F0D58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19488" y="466344"/>
            <a:ext cx="146304" cy="146304"/>
          </a:xfrm>
          <a:prstGeom prst="rect">
            <a:avLst/>
          </a:prstGeom>
        </p:spPr>
      </p:pic>
      <p:sp>
        <p:nvSpPr>
          <p:cNvPr id="7" name="Text 4"/>
          <p:cNvSpPr/>
          <p:nvPr/>
        </p:nvSpPr>
        <p:spPr>
          <a:xfrm>
            <a:off x="9829800" y="457200"/>
            <a:ext cx="1719072" cy="164592"/>
          </a:xfrm>
          <a:prstGeom prst="rect">
            <a:avLst/>
          </a:prstGeom>
          <a:noFill/>
          <a:ln/>
        </p:spPr>
        <p:txBody>
          <a:bodyPr wrap="square" lIns="0" tIns="0" rIns="0" bIns="0" rtlCol="0" anchor="ctr">
            <a:normAutofit/>
          </a:bodyPr>
          <a:lstStyle/>
          <a:p>
            <a:pPr indent="0" marL="0">
              <a:buNone/>
            </a:pPr>
            <a:r>
              <a:rPr lang="en-US" sz="1030" b="1" dirty="0">
                <a:solidFill>
                  <a:srgbClr val="7A5716"/>
                </a:solidFill>
              </a:rPr>
              <a:t>APPROVE / REJECT</a:t>
            </a:r>
            <a:endParaRPr lang="en-US" sz="1030" dirty="0"/>
          </a:p>
        </p:txBody>
      </p:sp>
      <p:sp>
        <p:nvSpPr>
          <p:cNvPr id="8" name="Shape 5"/>
          <p:cNvSpPr/>
          <p:nvPr/>
        </p:nvSpPr>
        <p:spPr>
          <a:xfrm>
            <a:off x="685800" y="1389888"/>
            <a:ext cx="1965960" cy="347472"/>
          </a:xfrm>
          <a:prstGeom prst="roundRect">
            <a:avLst>
              <a:gd name="adj" fmla="val 21053"/>
            </a:avLst>
          </a:prstGeom>
          <a:solidFill>
            <a:srgbClr val="EAF2FB"/>
          </a:solidFill>
          <a:ln w="12700">
            <a:solidFill>
              <a:srgbClr val="D9E2EF"/>
            </a:solidFill>
            <a:prstDash val="solid"/>
          </a:ln>
        </p:spPr>
      </p:sp>
      <p:sp>
        <p:nvSpPr>
          <p:cNvPr id="9" name="Text 6"/>
          <p:cNvSpPr/>
          <p:nvPr/>
        </p:nvSpPr>
        <p:spPr>
          <a:xfrm>
            <a:off x="7589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1. Investigate</a:t>
            </a:r>
            <a:endParaRPr lang="en-US" sz="1050" dirty="0"/>
          </a:p>
        </p:txBody>
      </p:sp>
      <p:sp>
        <p:nvSpPr>
          <p:cNvPr id="10" name="Shape 7"/>
          <p:cNvSpPr/>
          <p:nvPr/>
        </p:nvSpPr>
        <p:spPr>
          <a:xfrm>
            <a:off x="2743200" y="1389888"/>
            <a:ext cx="1965960" cy="347472"/>
          </a:xfrm>
          <a:prstGeom prst="roundRect">
            <a:avLst>
              <a:gd name="adj" fmla="val 21053"/>
            </a:avLst>
          </a:prstGeom>
          <a:solidFill>
            <a:srgbClr val="EAF2FB"/>
          </a:solidFill>
          <a:ln w="12700">
            <a:solidFill>
              <a:srgbClr val="D9E2EF"/>
            </a:solidFill>
            <a:prstDash val="solid"/>
          </a:ln>
        </p:spPr>
      </p:sp>
      <p:sp>
        <p:nvSpPr>
          <p:cNvPr id="11" name="Text 8"/>
          <p:cNvSpPr/>
          <p:nvPr/>
        </p:nvSpPr>
        <p:spPr>
          <a:xfrm>
            <a:off x="28163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2. Find procedure</a:t>
            </a:r>
            <a:endParaRPr lang="en-US" sz="1050" dirty="0"/>
          </a:p>
        </p:txBody>
      </p:sp>
      <p:sp>
        <p:nvSpPr>
          <p:cNvPr id="12" name="Shape 9"/>
          <p:cNvSpPr/>
          <p:nvPr/>
        </p:nvSpPr>
        <p:spPr>
          <a:xfrm>
            <a:off x="4800600" y="1389888"/>
            <a:ext cx="1965960" cy="347472"/>
          </a:xfrm>
          <a:prstGeom prst="roundRect">
            <a:avLst>
              <a:gd name="adj" fmla="val 21053"/>
            </a:avLst>
          </a:prstGeom>
          <a:solidFill>
            <a:srgbClr val="EAF2FB"/>
          </a:solidFill>
          <a:ln w="12700">
            <a:solidFill>
              <a:srgbClr val="D9E2EF"/>
            </a:solidFill>
            <a:prstDash val="solid"/>
          </a:ln>
        </p:spPr>
      </p:sp>
      <p:sp>
        <p:nvSpPr>
          <p:cNvPr id="13" name="Text 10"/>
          <p:cNvSpPr/>
          <p:nvPr/>
        </p:nvSpPr>
        <p:spPr>
          <a:xfrm>
            <a:off x="48737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3. Recommend</a:t>
            </a:r>
            <a:endParaRPr lang="en-US" sz="1050" dirty="0"/>
          </a:p>
        </p:txBody>
      </p:sp>
      <p:sp>
        <p:nvSpPr>
          <p:cNvPr id="14" name="Shape 11"/>
          <p:cNvSpPr/>
          <p:nvPr/>
        </p:nvSpPr>
        <p:spPr>
          <a:xfrm>
            <a:off x="6858000" y="1389888"/>
            <a:ext cx="1965960" cy="347472"/>
          </a:xfrm>
          <a:prstGeom prst="roundRect">
            <a:avLst>
              <a:gd name="adj" fmla="val 21053"/>
            </a:avLst>
          </a:prstGeom>
          <a:solidFill>
            <a:srgbClr val="0B2E63"/>
          </a:solidFill>
          <a:ln w="12700">
            <a:solidFill>
              <a:srgbClr val="0B2E63"/>
            </a:solidFill>
            <a:prstDash val="solid"/>
          </a:ln>
        </p:spPr>
      </p:sp>
      <p:sp>
        <p:nvSpPr>
          <p:cNvPr id="15" name="Text 12"/>
          <p:cNvSpPr/>
          <p:nvPr/>
        </p:nvSpPr>
        <p:spPr>
          <a:xfrm>
            <a:off x="69311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4. Employee decides</a:t>
            </a:r>
            <a:endParaRPr lang="en-US" sz="1050" dirty="0"/>
          </a:p>
        </p:txBody>
      </p:sp>
      <p:sp>
        <p:nvSpPr>
          <p:cNvPr id="16" name="Shape 13"/>
          <p:cNvSpPr/>
          <p:nvPr/>
        </p:nvSpPr>
        <p:spPr>
          <a:xfrm>
            <a:off x="8915400" y="1389888"/>
            <a:ext cx="1965960" cy="347472"/>
          </a:xfrm>
          <a:prstGeom prst="roundRect">
            <a:avLst>
              <a:gd name="adj" fmla="val 21053"/>
            </a:avLst>
          </a:prstGeom>
          <a:solidFill>
            <a:srgbClr val="EAF2FB"/>
          </a:solidFill>
          <a:ln w="12700">
            <a:solidFill>
              <a:srgbClr val="D9E2EF"/>
            </a:solidFill>
            <a:prstDash val="solid"/>
          </a:ln>
        </p:spPr>
      </p:sp>
      <p:sp>
        <p:nvSpPr>
          <p:cNvPr id="17" name="Text 14"/>
          <p:cNvSpPr/>
          <p:nvPr/>
        </p:nvSpPr>
        <p:spPr>
          <a:xfrm>
            <a:off x="89885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5. Record action</a:t>
            </a:r>
            <a:endParaRPr lang="en-US" sz="1050" dirty="0"/>
          </a:p>
        </p:txBody>
      </p:sp>
      <p:sp>
        <p:nvSpPr>
          <p:cNvPr id="18" name="Shape 15"/>
          <p:cNvSpPr/>
          <p:nvPr/>
        </p:nvSpPr>
        <p:spPr>
          <a:xfrm>
            <a:off x="868680" y="2212848"/>
            <a:ext cx="4709160" cy="3255264"/>
          </a:xfrm>
          <a:prstGeom prst="roundRect">
            <a:avLst>
              <a:gd name="adj" fmla="val 2247"/>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7864" y="2560320"/>
            <a:ext cx="502920" cy="502920"/>
          </a:xfrm>
          <a:prstGeom prst="rect">
            <a:avLst/>
          </a:prstGeom>
        </p:spPr>
      </p:pic>
      <p:sp>
        <p:nvSpPr>
          <p:cNvPr id="20" name="Text 16"/>
          <p:cNvSpPr/>
          <p:nvPr/>
        </p:nvSpPr>
        <p:spPr>
          <a:xfrm>
            <a:off x="1874520" y="2542032"/>
            <a:ext cx="2697480" cy="310896"/>
          </a:xfrm>
          <a:prstGeom prst="rect">
            <a:avLst/>
          </a:prstGeom>
          <a:noFill/>
          <a:ln/>
        </p:spPr>
        <p:txBody>
          <a:bodyPr wrap="square" lIns="0" tIns="0" rIns="0" bIns="0" rtlCol="0" anchor="ctr"/>
          <a:lstStyle/>
          <a:p>
            <a:pPr indent="0" marL="0">
              <a:buNone/>
            </a:pPr>
            <a:r>
              <a:rPr lang="en-US" sz="2000" b="1" dirty="0">
                <a:solidFill>
                  <a:srgbClr val="0B2E63"/>
                </a:solidFill>
              </a:rPr>
              <a:t>AI proposes</a:t>
            </a:r>
            <a:endParaRPr lang="en-US" sz="2000" dirty="0"/>
          </a:p>
        </p:txBody>
      </p:sp>
      <p:sp>
        <p:nvSpPr>
          <p:cNvPr id="21" name="Text 17"/>
          <p:cNvSpPr/>
          <p:nvPr/>
        </p:nvSpPr>
        <p:spPr>
          <a:xfrm>
            <a:off x="1234440" y="3273552"/>
            <a:ext cx="3886200" cy="804672"/>
          </a:xfrm>
          <a:prstGeom prst="rect">
            <a:avLst/>
          </a:prstGeom>
          <a:noFill/>
          <a:ln/>
        </p:spPr>
        <p:txBody>
          <a:bodyPr wrap="square" lIns="0" tIns="0" rIns="0" bIns="0" rtlCol="0" anchor="ctr">
            <a:normAutofit/>
          </a:bodyPr>
          <a:lstStyle/>
          <a:p>
            <a:pPr algn="ctr" indent="0" marL="0">
              <a:buNone/>
            </a:pPr>
            <a:r>
              <a:rPr lang="en-US" sz="1900" dirty="0">
                <a:solidFill>
                  <a:srgbClr val="334155"/>
                </a:solidFill>
              </a:rPr>
              <a:t>Mark the purchase as customer-confirmed and allow Jane to retry it.</a:t>
            </a:r>
            <a:endParaRPr lang="en-US" sz="1900" dirty="0"/>
          </a:p>
        </p:txBody>
      </p:sp>
      <p:sp>
        <p:nvSpPr>
          <p:cNvPr id="22" name="Text 18"/>
          <p:cNvSpPr/>
          <p:nvPr/>
        </p:nvSpPr>
        <p:spPr>
          <a:xfrm>
            <a:off x="1280160" y="4681728"/>
            <a:ext cx="3749040" cy="320040"/>
          </a:xfrm>
          <a:prstGeom prst="rect">
            <a:avLst/>
          </a:prstGeom>
          <a:noFill/>
          <a:ln/>
        </p:spPr>
        <p:txBody>
          <a:bodyPr wrap="square" lIns="0" tIns="0" rIns="0" bIns="0" rtlCol="0" anchor="ctr"/>
          <a:lstStyle/>
          <a:p>
            <a:pPr algn="ctr" indent="0" marL="0">
              <a:buNone/>
            </a:pPr>
            <a:r>
              <a:rPr lang="en-US" sz="1700" b="1" dirty="0">
                <a:solidFill>
                  <a:srgbClr val="C43D3D"/>
                </a:solidFill>
              </a:rPr>
              <a:t>Nothing changes yet.</a:t>
            </a:r>
            <a:endParaRPr lang="en-US" sz="1700" dirty="0"/>
          </a:p>
        </p:txBody>
      </p:sp>
      <p:sp>
        <p:nvSpPr>
          <p:cNvPr id="23" name="Shape 19"/>
          <p:cNvSpPr/>
          <p:nvPr/>
        </p:nvSpPr>
        <p:spPr>
          <a:xfrm>
            <a:off x="5806440" y="3465576"/>
            <a:ext cx="502920" cy="292608"/>
          </a:xfrm>
          <a:prstGeom prst="chevron">
            <a:avLst/>
          </a:prstGeom>
          <a:solidFill>
            <a:srgbClr val="1E5AA8"/>
          </a:solidFill>
          <a:ln w="12700">
            <a:solidFill>
              <a:srgbClr val="1E5AA8"/>
            </a:solidFill>
            <a:prstDash val="solid"/>
          </a:ln>
        </p:spPr>
      </p:sp>
      <p:sp>
        <p:nvSpPr>
          <p:cNvPr id="24" name="Shape 20"/>
          <p:cNvSpPr/>
          <p:nvPr/>
        </p:nvSpPr>
        <p:spPr>
          <a:xfrm>
            <a:off x="6492240" y="2103120"/>
            <a:ext cx="4663440" cy="3474720"/>
          </a:xfrm>
          <a:prstGeom prst="roundRect">
            <a:avLst>
              <a:gd name="adj" fmla="val 2105"/>
            </a:avLst>
          </a:prstGeom>
          <a:solidFill>
            <a:srgbClr val="F1F6FC"/>
          </a:solidFill>
          <a:ln w="12700">
            <a:solidFill>
              <a:srgbClr val="BCD2EB"/>
            </a:solidFill>
            <a:prstDash val="solid"/>
          </a:ln>
          <a:effectLst>
            <a:outerShdw sx="100000" sy="100000" kx="0" ky="0" algn="bl" rotWithShape="0" blurRad="19050" dist="50800" dir="2700000">
              <a:srgbClr val="C8D4E3">
                <a:alpha val="14000"/>
              </a:srgbClr>
            </a:outerShdw>
          </a:effectLst>
        </p:spPr>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21040" y="2450592"/>
            <a:ext cx="640080" cy="640080"/>
          </a:xfrm>
          <a:prstGeom prst="rect">
            <a:avLst/>
          </a:prstGeom>
        </p:spPr>
      </p:pic>
      <p:sp>
        <p:nvSpPr>
          <p:cNvPr id="26" name="Text 21"/>
          <p:cNvSpPr/>
          <p:nvPr/>
        </p:nvSpPr>
        <p:spPr>
          <a:xfrm>
            <a:off x="7434072" y="3264408"/>
            <a:ext cx="2395728" cy="329184"/>
          </a:xfrm>
          <a:prstGeom prst="rect">
            <a:avLst/>
          </a:prstGeom>
          <a:noFill/>
          <a:ln/>
        </p:spPr>
        <p:txBody>
          <a:bodyPr wrap="square" lIns="0" tIns="0" rIns="0" bIns="0" rtlCol="0" anchor="ctr"/>
          <a:lstStyle/>
          <a:p>
            <a:pPr algn="ctr" indent="0" marL="0">
              <a:buNone/>
            </a:pPr>
            <a:r>
              <a:rPr lang="en-US" sz="2100" b="1" dirty="0">
                <a:solidFill>
                  <a:srgbClr val="0B2E63"/>
                </a:solidFill>
              </a:rPr>
              <a:t>Employee approval</a:t>
            </a:r>
            <a:endParaRPr lang="en-US" sz="2100" dirty="0"/>
          </a:p>
        </p:txBody>
      </p:sp>
      <p:sp>
        <p:nvSpPr>
          <p:cNvPr id="27" name="Shape 22"/>
          <p:cNvSpPr/>
          <p:nvPr/>
        </p:nvSpPr>
        <p:spPr>
          <a:xfrm>
            <a:off x="7086600" y="3977640"/>
            <a:ext cx="1508760" cy="548640"/>
          </a:xfrm>
          <a:prstGeom prst="roundRect">
            <a:avLst>
              <a:gd name="adj" fmla="val 13333"/>
            </a:avLst>
          </a:prstGeom>
          <a:solidFill>
            <a:srgbClr val="1F8B4C"/>
          </a:solidFill>
          <a:ln w="12700">
            <a:solidFill>
              <a:srgbClr val="1F8B4C"/>
            </a:solidFill>
            <a:prstDash val="solid"/>
          </a:ln>
        </p:spPr>
      </p:sp>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42632" y="4114800"/>
            <a:ext cx="182880" cy="182880"/>
          </a:xfrm>
          <a:prstGeom prst="rect">
            <a:avLst/>
          </a:prstGeom>
        </p:spPr>
      </p:pic>
      <p:sp>
        <p:nvSpPr>
          <p:cNvPr id="29" name="Text 23"/>
          <p:cNvSpPr/>
          <p:nvPr/>
        </p:nvSpPr>
        <p:spPr>
          <a:xfrm>
            <a:off x="7589520" y="4105656"/>
            <a:ext cx="804672" cy="164592"/>
          </a:xfrm>
          <a:prstGeom prst="rect">
            <a:avLst/>
          </a:prstGeom>
          <a:noFill/>
          <a:ln/>
        </p:spPr>
        <p:txBody>
          <a:bodyPr wrap="square" lIns="0" tIns="0" rIns="0" bIns="0" rtlCol="0" anchor="ctr"/>
          <a:lstStyle/>
          <a:p>
            <a:pPr indent="0" marL="0">
              <a:buNone/>
            </a:pPr>
            <a:r>
              <a:rPr lang="en-US" sz="1230" b="1" dirty="0">
                <a:solidFill>
                  <a:srgbClr val="FFFFFF"/>
                </a:solidFill>
              </a:rPr>
              <a:t>APPROVE</a:t>
            </a:r>
            <a:endParaRPr lang="en-US" sz="1230" dirty="0"/>
          </a:p>
        </p:txBody>
      </p:sp>
      <p:sp>
        <p:nvSpPr>
          <p:cNvPr id="30" name="Shape 24"/>
          <p:cNvSpPr/>
          <p:nvPr/>
        </p:nvSpPr>
        <p:spPr>
          <a:xfrm>
            <a:off x="9061704" y="3977640"/>
            <a:ext cx="1508760" cy="548640"/>
          </a:xfrm>
          <a:prstGeom prst="roundRect">
            <a:avLst>
              <a:gd name="adj" fmla="val 13333"/>
            </a:avLst>
          </a:prstGeom>
          <a:solidFill>
            <a:srgbClr val="C43D3D"/>
          </a:solidFill>
          <a:ln w="12700">
            <a:solidFill>
              <a:srgbClr val="C43D3D"/>
            </a:solidFill>
            <a:prstDash val="solid"/>
          </a:ln>
        </p:spPr>
      </p:sp>
      <p:pic>
        <p:nvPicPr>
          <p:cNvPr id="3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17736" y="4114800"/>
            <a:ext cx="182880" cy="182880"/>
          </a:xfrm>
          <a:prstGeom prst="rect">
            <a:avLst/>
          </a:prstGeom>
        </p:spPr>
      </p:pic>
      <p:sp>
        <p:nvSpPr>
          <p:cNvPr id="32" name="Text 25"/>
          <p:cNvSpPr/>
          <p:nvPr/>
        </p:nvSpPr>
        <p:spPr>
          <a:xfrm>
            <a:off x="9573768" y="4105656"/>
            <a:ext cx="713232" cy="164592"/>
          </a:xfrm>
          <a:prstGeom prst="rect">
            <a:avLst/>
          </a:prstGeom>
          <a:noFill/>
          <a:ln/>
        </p:spPr>
        <p:txBody>
          <a:bodyPr wrap="square" lIns="0" tIns="0" rIns="0" bIns="0" rtlCol="0" anchor="ctr"/>
          <a:lstStyle/>
          <a:p>
            <a:pPr indent="0" marL="0">
              <a:buNone/>
            </a:pPr>
            <a:r>
              <a:rPr lang="en-US" sz="1230" b="1" dirty="0">
                <a:solidFill>
                  <a:srgbClr val="FFFFFF"/>
                </a:solidFill>
              </a:rPr>
              <a:t>REJECT</a:t>
            </a:r>
            <a:endParaRPr lang="en-US" sz="1230" dirty="0"/>
          </a:p>
        </p:txBody>
      </p:sp>
      <p:sp>
        <p:nvSpPr>
          <p:cNvPr id="33" name="Text 26"/>
          <p:cNvSpPr/>
          <p:nvPr/>
        </p:nvSpPr>
        <p:spPr>
          <a:xfrm>
            <a:off x="6931152" y="4983480"/>
            <a:ext cx="3794760" cy="301752"/>
          </a:xfrm>
          <a:prstGeom prst="rect">
            <a:avLst/>
          </a:prstGeom>
          <a:noFill/>
          <a:ln/>
        </p:spPr>
        <p:txBody>
          <a:bodyPr wrap="square" lIns="0" tIns="0" rIns="0" bIns="0" rtlCol="0" anchor="ctr">
            <a:normAutofit/>
          </a:bodyPr>
          <a:lstStyle/>
          <a:p>
            <a:pPr algn="ctr" indent="0" marL="0">
              <a:buNone/>
            </a:pPr>
            <a:r>
              <a:rPr lang="en-US" sz="1530" b="1" dirty="0">
                <a:solidFill>
                  <a:srgbClr val="1E5AA8"/>
                </a:solidFill>
              </a:rPr>
              <a:t>The employee owns the consequential action.</a:t>
            </a:r>
            <a:endParaRPr lang="en-US" sz="153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38912" y="347472"/>
            <a:ext cx="8641080" cy="502920"/>
          </a:xfrm>
          <a:prstGeom prst="rect">
            <a:avLst/>
          </a:prstGeom>
          <a:noFill/>
          <a:ln/>
        </p:spPr>
        <p:txBody>
          <a:bodyPr wrap="square" lIns="0" tIns="0" rIns="0" bIns="0" rtlCol="0" anchor="ctr">
            <a:normAutofit/>
          </a:bodyPr>
          <a:lstStyle/>
          <a:p>
            <a:pPr indent="0" marL="0">
              <a:buNone/>
            </a:pPr>
            <a:r>
              <a:rPr lang="en-US" sz="2650" b="1" dirty="0">
                <a:solidFill>
                  <a:srgbClr val="0B2E63"/>
                </a:solidFill>
                <a:latin typeface="Aptos Display" pitchFamily="34" charset="0"/>
                <a:ea typeface="Aptos Display" pitchFamily="34" charset="-122"/>
                <a:cs typeface="Aptos Display" pitchFamily="34" charset="-120"/>
              </a:rPr>
              <a:t>5. The approved action is carried out — and recorded</a:t>
            </a:r>
            <a:endParaRPr lang="en-US" sz="2650" dirty="0"/>
          </a:p>
        </p:txBody>
      </p:sp>
      <p:sp>
        <p:nvSpPr>
          <p:cNvPr id="3" name="Text 1"/>
          <p:cNvSpPr/>
          <p:nvPr/>
        </p:nvSpPr>
        <p:spPr>
          <a:xfrm>
            <a:off x="457200" y="896112"/>
            <a:ext cx="854964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The system completes the step and leaves a clear record of what happened.</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9482328" y="384048"/>
            <a:ext cx="2258568" cy="384048"/>
          </a:xfrm>
          <a:prstGeom prst="roundRect">
            <a:avLst>
              <a:gd name="adj" fmla="val 19048"/>
            </a:avLst>
          </a:prstGeom>
          <a:solidFill>
            <a:srgbClr val="FFF4D8"/>
          </a:solidFill>
          <a:ln w="12700">
            <a:solidFill>
              <a:srgbClr val="F0D58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19488" y="466344"/>
            <a:ext cx="146304" cy="146304"/>
          </a:xfrm>
          <a:prstGeom prst="rect">
            <a:avLst/>
          </a:prstGeom>
        </p:spPr>
      </p:pic>
      <p:sp>
        <p:nvSpPr>
          <p:cNvPr id="7" name="Text 4"/>
          <p:cNvSpPr/>
          <p:nvPr/>
        </p:nvSpPr>
        <p:spPr>
          <a:xfrm>
            <a:off x="9829800" y="457200"/>
            <a:ext cx="1719072" cy="164592"/>
          </a:xfrm>
          <a:prstGeom prst="rect">
            <a:avLst/>
          </a:prstGeom>
          <a:noFill/>
          <a:ln/>
        </p:spPr>
        <p:txBody>
          <a:bodyPr wrap="square" lIns="0" tIns="0" rIns="0" bIns="0" rtlCol="0" anchor="ctr">
            <a:normAutofit/>
          </a:bodyPr>
          <a:lstStyle/>
          <a:p>
            <a:pPr indent="0" marL="0">
              <a:buNone/>
            </a:pPr>
            <a:r>
              <a:rPr lang="en-US" sz="1030" b="1" dirty="0">
                <a:solidFill>
                  <a:srgbClr val="7A5716"/>
                </a:solidFill>
              </a:rPr>
              <a:t>SHOW AUDIT</a:t>
            </a:r>
            <a:endParaRPr lang="en-US" sz="1030" dirty="0"/>
          </a:p>
        </p:txBody>
      </p:sp>
      <p:sp>
        <p:nvSpPr>
          <p:cNvPr id="8" name="Shape 5"/>
          <p:cNvSpPr/>
          <p:nvPr/>
        </p:nvSpPr>
        <p:spPr>
          <a:xfrm>
            <a:off x="685800" y="1389888"/>
            <a:ext cx="1965960" cy="347472"/>
          </a:xfrm>
          <a:prstGeom prst="roundRect">
            <a:avLst>
              <a:gd name="adj" fmla="val 21053"/>
            </a:avLst>
          </a:prstGeom>
          <a:solidFill>
            <a:srgbClr val="EAF2FB"/>
          </a:solidFill>
          <a:ln w="12700">
            <a:solidFill>
              <a:srgbClr val="D9E2EF"/>
            </a:solidFill>
            <a:prstDash val="solid"/>
          </a:ln>
        </p:spPr>
      </p:sp>
      <p:sp>
        <p:nvSpPr>
          <p:cNvPr id="9" name="Text 6"/>
          <p:cNvSpPr/>
          <p:nvPr/>
        </p:nvSpPr>
        <p:spPr>
          <a:xfrm>
            <a:off x="7589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1. Investigate</a:t>
            </a:r>
            <a:endParaRPr lang="en-US" sz="1050" dirty="0"/>
          </a:p>
        </p:txBody>
      </p:sp>
      <p:sp>
        <p:nvSpPr>
          <p:cNvPr id="10" name="Shape 7"/>
          <p:cNvSpPr/>
          <p:nvPr/>
        </p:nvSpPr>
        <p:spPr>
          <a:xfrm>
            <a:off x="2743200" y="1389888"/>
            <a:ext cx="1965960" cy="347472"/>
          </a:xfrm>
          <a:prstGeom prst="roundRect">
            <a:avLst>
              <a:gd name="adj" fmla="val 21053"/>
            </a:avLst>
          </a:prstGeom>
          <a:solidFill>
            <a:srgbClr val="EAF2FB"/>
          </a:solidFill>
          <a:ln w="12700">
            <a:solidFill>
              <a:srgbClr val="D9E2EF"/>
            </a:solidFill>
            <a:prstDash val="solid"/>
          </a:ln>
        </p:spPr>
      </p:sp>
      <p:sp>
        <p:nvSpPr>
          <p:cNvPr id="11" name="Text 8"/>
          <p:cNvSpPr/>
          <p:nvPr/>
        </p:nvSpPr>
        <p:spPr>
          <a:xfrm>
            <a:off x="28163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2. Find procedure</a:t>
            </a:r>
            <a:endParaRPr lang="en-US" sz="1050" dirty="0"/>
          </a:p>
        </p:txBody>
      </p:sp>
      <p:sp>
        <p:nvSpPr>
          <p:cNvPr id="12" name="Shape 9"/>
          <p:cNvSpPr/>
          <p:nvPr/>
        </p:nvSpPr>
        <p:spPr>
          <a:xfrm>
            <a:off x="4800600" y="1389888"/>
            <a:ext cx="1965960" cy="347472"/>
          </a:xfrm>
          <a:prstGeom prst="roundRect">
            <a:avLst>
              <a:gd name="adj" fmla="val 21053"/>
            </a:avLst>
          </a:prstGeom>
          <a:solidFill>
            <a:srgbClr val="EAF2FB"/>
          </a:solidFill>
          <a:ln w="12700">
            <a:solidFill>
              <a:srgbClr val="D9E2EF"/>
            </a:solidFill>
            <a:prstDash val="solid"/>
          </a:ln>
        </p:spPr>
      </p:sp>
      <p:sp>
        <p:nvSpPr>
          <p:cNvPr id="13" name="Text 10"/>
          <p:cNvSpPr/>
          <p:nvPr/>
        </p:nvSpPr>
        <p:spPr>
          <a:xfrm>
            <a:off x="48737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3. Recommend</a:t>
            </a:r>
            <a:endParaRPr lang="en-US" sz="1050" dirty="0"/>
          </a:p>
        </p:txBody>
      </p:sp>
      <p:sp>
        <p:nvSpPr>
          <p:cNvPr id="14" name="Shape 11"/>
          <p:cNvSpPr/>
          <p:nvPr/>
        </p:nvSpPr>
        <p:spPr>
          <a:xfrm>
            <a:off x="6858000" y="1389888"/>
            <a:ext cx="1965960" cy="347472"/>
          </a:xfrm>
          <a:prstGeom prst="roundRect">
            <a:avLst>
              <a:gd name="adj" fmla="val 21053"/>
            </a:avLst>
          </a:prstGeom>
          <a:solidFill>
            <a:srgbClr val="EAF2FB"/>
          </a:solidFill>
          <a:ln w="12700">
            <a:solidFill>
              <a:srgbClr val="D9E2EF"/>
            </a:solidFill>
            <a:prstDash val="solid"/>
          </a:ln>
        </p:spPr>
      </p:sp>
      <p:sp>
        <p:nvSpPr>
          <p:cNvPr id="15" name="Text 12"/>
          <p:cNvSpPr/>
          <p:nvPr/>
        </p:nvSpPr>
        <p:spPr>
          <a:xfrm>
            <a:off x="69311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0B2E63"/>
                </a:solidFill>
              </a:rPr>
              <a:t>4. Employee decides</a:t>
            </a:r>
            <a:endParaRPr lang="en-US" sz="1050" dirty="0"/>
          </a:p>
        </p:txBody>
      </p:sp>
      <p:sp>
        <p:nvSpPr>
          <p:cNvPr id="16" name="Shape 13"/>
          <p:cNvSpPr/>
          <p:nvPr/>
        </p:nvSpPr>
        <p:spPr>
          <a:xfrm>
            <a:off x="8915400" y="1389888"/>
            <a:ext cx="1965960" cy="347472"/>
          </a:xfrm>
          <a:prstGeom prst="roundRect">
            <a:avLst>
              <a:gd name="adj" fmla="val 21053"/>
            </a:avLst>
          </a:prstGeom>
          <a:solidFill>
            <a:srgbClr val="0B2E63"/>
          </a:solidFill>
          <a:ln w="12700">
            <a:solidFill>
              <a:srgbClr val="0B2E63"/>
            </a:solidFill>
            <a:prstDash val="solid"/>
          </a:ln>
        </p:spPr>
      </p:sp>
      <p:sp>
        <p:nvSpPr>
          <p:cNvPr id="17" name="Text 14"/>
          <p:cNvSpPr/>
          <p:nvPr/>
        </p:nvSpPr>
        <p:spPr>
          <a:xfrm>
            <a:off x="8988552" y="1463040"/>
            <a:ext cx="1819656"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5. Record action</a:t>
            </a:r>
            <a:endParaRPr lang="en-US" sz="1050" dirty="0"/>
          </a:p>
        </p:txBody>
      </p:sp>
      <p:sp>
        <p:nvSpPr>
          <p:cNvPr id="18" name="Shape 15"/>
          <p:cNvSpPr/>
          <p:nvPr/>
        </p:nvSpPr>
        <p:spPr>
          <a:xfrm>
            <a:off x="731520" y="2286000"/>
            <a:ext cx="1874520" cy="1600200"/>
          </a:xfrm>
          <a:prstGeom prst="roundRect">
            <a:avLst>
              <a:gd name="adj" fmla="val 4571"/>
            </a:avLst>
          </a:prstGeom>
          <a:solidFill>
            <a:srgbClr val="E7F5EC"/>
          </a:solidFill>
          <a:ln w="12700">
            <a:solidFill>
              <a:srgbClr val="B9DEC7"/>
            </a:solidFill>
            <a:prstDash val="solid"/>
          </a:ln>
          <a:effectLst>
            <a:outerShdw sx="100000" sy="100000" kx="0" ky="0" algn="bl" rotWithShape="0" blurRad="19050" dist="50800" dir="2700000">
              <a:srgbClr val="C8D4E3">
                <a:alpha val="14000"/>
              </a:srgbClr>
            </a:outerShdw>
          </a:effectLst>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5880" y="2606040"/>
            <a:ext cx="502920" cy="502920"/>
          </a:xfrm>
          <a:prstGeom prst="rect">
            <a:avLst/>
          </a:prstGeom>
        </p:spPr>
      </p:pic>
      <p:sp>
        <p:nvSpPr>
          <p:cNvPr id="20" name="Text 16"/>
          <p:cNvSpPr/>
          <p:nvPr/>
        </p:nvSpPr>
        <p:spPr>
          <a:xfrm>
            <a:off x="914400" y="3310128"/>
            <a:ext cx="1508760" cy="292608"/>
          </a:xfrm>
          <a:prstGeom prst="rect">
            <a:avLst/>
          </a:prstGeom>
          <a:noFill/>
          <a:ln/>
        </p:spPr>
        <p:txBody>
          <a:bodyPr wrap="square" lIns="0" tIns="0" rIns="0" bIns="0" rtlCol="0" anchor="ctr">
            <a:normAutofit/>
          </a:bodyPr>
          <a:lstStyle/>
          <a:p>
            <a:pPr algn="ctr" indent="0" marL="0">
              <a:buNone/>
            </a:pPr>
            <a:r>
              <a:rPr lang="en-US" sz="1520" b="1" dirty="0">
                <a:solidFill>
                  <a:srgbClr val="0B2E63"/>
                </a:solidFill>
              </a:rPr>
              <a:t>Employee approves</a:t>
            </a:r>
            <a:endParaRPr lang="en-US" sz="1520" dirty="0"/>
          </a:p>
        </p:txBody>
      </p:sp>
      <p:sp>
        <p:nvSpPr>
          <p:cNvPr id="21" name="Shape 17"/>
          <p:cNvSpPr/>
          <p:nvPr/>
        </p:nvSpPr>
        <p:spPr>
          <a:xfrm>
            <a:off x="2880360" y="2926080"/>
            <a:ext cx="438912" cy="292608"/>
          </a:xfrm>
          <a:prstGeom prst="chevron">
            <a:avLst/>
          </a:prstGeom>
          <a:solidFill>
            <a:srgbClr val="1E5AA8"/>
          </a:solidFill>
          <a:ln w="12700">
            <a:solidFill>
              <a:srgbClr val="1E5AA8"/>
            </a:solidFill>
            <a:prstDash val="solid"/>
          </a:ln>
        </p:spPr>
      </p:sp>
      <p:sp>
        <p:nvSpPr>
          <p:cNvPr id="22" name="Shape 18"/>
          <p:cNvSpPr/>
          <p:nvPr/>
        </p:nvSpPr>
        <p:spPr>
          <a:xfrm>
            <a:off x="3730752" y="2286000"/>
            <a:ext cx="1874520" cy="1600200"/>
          </a:xfrm>
          <a:prstGeom prst="roundRect">
            <a:avLst>
              <a:gd name="adj" fmla="val 4571"/>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25112" y="2606040"/>
            <a:ext cx="502920" cy="502920"/>
          </a:xfrm>
          <a:prstGeom prst="rect">
            <a:avLst/>
          </a:prstGeom>
        </p:spPr>
      </p:pic>
      <p:sp>
        <p:nvSpPr>
          <p:cNvPr id="24" name="Text 19"/>
          <p:cNvSpPr/>
          <p:nvPr/>
        </p:nvSpPr>
        <p:spPr>
          <a:xfrm>
            <a:off x="3913632" y="3310128"/>
            <a:ext cx="1508760" cy="292608"/>
          </a:xfrm>
          <a:prstGeom prst="rect">
            <a:avLst/>
          </a:prstGeom>
          <a:noFill/>
          <a:ln/>
        </p:spPr>
        <p:txBody>
          <a:bodyPr wrap="square" lIns="0" tIns="0" rIns="0" bIns="0" rtlCol="0" anchor="ctr">
            <a:normAutofit/>
          </a:bodyPr>
          <a:lstStyle/>
          <a:p>
            <a:pPr algn="ctr" indent="0" marL="0">
              <a:buNone/>
            </a:pPr>
            <a:r>
              <a:rPr lang="en-US" sz="1520" b="1" dirty="0">
                <a:solidFill>
                  <a:srgbClr val="0B2E63"/>
                </a:solidFill>
              </a:rPr>
              <a:t>Action runs</a:t>
            </a:r>
            <a:endParaRPr lang="en-US" sz="1520" dirty="0"/>
          </a:p>
        </p:txBody>
      </p:sp>
      <p:sp>
        <p:nvSpPr>
          <p:cNvPr id="25" name="Shape 20"/>
          <p:cNvSpPr/>
          <p:nvPr/>
        </p:nvSpPr>
        <p:spPr>
          <a:xfrm>
            <a:off x="5879592" y="2926080"/>
            <a:ext cx="438912" cy="292608"/>
          </a:xfrm>
          <a:prstGeom prst="chevron">
            <a:avLst/>
          </a:prstGeom>
          <a:solidFill>
            <a:srgbClr val="1E5AA8"/>
          </a:solidFill>
          <a:ln w="12700">
            <a:solidFill>
              <a:srgbClr val="1E5AA8"/>
            </a:solidFill>
            <a:prstDash val="solid"/>
          </a:ln>
        </p:spPr>
      </p:sp>
      <p:sp>
        <p:nvSpPr>
          <p:cNvPr id="26" name="Shape 21"/>
          <p:cNvSpPr/>
          <p:nvPr/>
        </p:nvSpPr>
        <p:spPr>
          <a:xfrm>
            <a:off x="6729984" y="2286000"/>
            <a:ext cx="1874520" cy="1600200"/>
          </a:xfrm>
          <a:prstGeom prst="roundRect">
            <a:avLst>
              <a:gd name="adj" fmla="val 4571"/>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4344" y="2606040"/>
            <a:ext cx="502920" cy="502920"/>
          </a:xfrm>
          <a:prstGeom prst="rect">
            <a:avLst/>
          </a:prstGeom>
        </p:spPr>
      </p:pic>
      <p:sp>
        <p:nvSpPr>
          <p:cNvPr id="28" name="Text 22"/>
          <p:cNvSpPr/>
          <p:nvPr/>
        </p:nvSpPr>
        <p:spPr>
          <a:xfrm>
            <a:off x="6912864" y="3310128"/>
            <a:ext cx="1508760" cy="292608"/>
          </a:xfrm>
          <a:prstGeom prst="rect">
            <a:avLst/>
          </a:prstGeom>
          <a:noFill/>
          <a:ln/>
        </p:spPr>
        <p:txBody>
          <a:bodyPr wrap="square" lIns="0" tIns="0" rIns="0" bIns="0" rtlCol="0" anchor="ctr">
            <a:normAutofit/>
          </a:bodyPr>
          <a:lstStyle/>
          <a:p>
            <a:pPr algn="ctr" indent="0" marL="0">
              <a:buNone/>
            </a:pPr>
            <a:r>
              <a:rPr lang="en-US" sz="1520" b="1" dirty="0">
                <a:solidFill>
                  <a:srgbClr val="0B2E63"/>
                </a:solidFill>
              </a:rPr>
              <a:t>Retry allowed</a:t>
            </a:r>
            <a:endParaRPr lang="en-US" sz="1520" dirty="0"/>
          </a:p>
        </p:txBody>
      </p:sp>
      <p:sp>
        <p:nvSpPr>
          <p:cNvPr id="29" name="Shape 23"/>
          <p:cNvSpPr/>
          <p:nvPr/>
        </p:nvSpPr>
        <p:spPr>
          <a:xfrm>
            <a:off x="8878824" y="2926080"/>
            <a:ext cx="438912" cy="292608"/>
          </a:xfrm>
          <a:prstGeom prst="chevron">
            <a:avLst/>
          </a:prstGeom>
          <a:solidFill>
            <a:srgbClr val="1E5AA8"/>
          </a:solidFill>
          <a:ln w="12700">
            <a:solidFill>
              <a:srgbClr val="1E5AA8"/>
            </a:solidFill>
            <a:prstDash val="solid"/>
          </a:ln>
        </p:spPr>
      </p:sp>
      <p:sp>
        <p:nvSpPr>
          <p:cNvPr id="30" name="Shape 24"/>
          <p:cNvSpPr/>
          <p:nvPr/>
        </p:nvSpPr>
        <p:spPr>
          <a:xfrm>
            <a:off x="9729216" y="2286000"/>
            <a:ext cx="1874520" cy="1600200"/>
          </a:xfrm>
          <a:prstGeom prst="roundRect">
            <a:avLst>
              <a:gd name="adj" fmla="val 4571"/>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pic>
        <p:nvPicPr>
          <p:cNvPr id="3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23576" y="2606040"/>
            <a:ext cx="502920" cy="502920"/>
          </a:xfrm>
          <a:prstGeom prst="rect">
            <a:avLst/>
          </a:prstGeom>
        </p:spPr>
      </p:pic>
      <p:sp>
        <p:nvSpPr>
          <p:cNvPr id="32" name="Text 25"/>
          <p:cNvSpPr/>
          <p:nvPr/>
        </p:nvSpPr>
        <p:spPr>
          <a:xfrm>
            <a:off x="9912096" y="3310128"/>
            <a:ext cx="1508760" cy="292608"/>
          </a:xfrm>
          <a:prstGeom prst="rect">
            <a:avLst/>
          </a:prstGeom>
          <a:noFill/>
          <a:ln/>
        </p:spPr>
        <p:txBody>
          <a:bodyPr wrap="square" lIns="0" tIns="0" rIns="0" bIns="0" rtlCol="0" anchor="ctr">
            <a:normAutofit/>
          </a:bodyPr>
          <a:lstStyle/>
          <a:p>
            <a:pPr algn="ctr" indent="0" marL="0">
              <a:buNone/>
            </a:pPr>
            <a:r>
              <a:rPr lang="en-US" sz="1520" b="1" dirty="0">
                <a:solidFill>
                  <a:srgbClr val="0B2E63"/>
                </a:solidFill>
              </a:rPr>
              <a:t>Audit recorded</a:t>
            </a:r>
            <a:endParaRPr lang="en-US" sz="1520" dirty="0"/>
          </a:p>
        </p:txBody>
      </p:sp>
      <p:sp>
        <p:nvSpPr>
          <p:cNvPr id="33" name="Shape 26"/>
          <p:cNvSpPr/>
          <p:nvPr/>
        </p:nvSpPr>
        <p:spPr>
          <a:xfrm>
            <a:off x="1115568" y="4443984"/>
            <a:ext cx="9875520" cy="1170432"/>
          </a:xfrm>
          <a:prstGeom prst="roundRect">
            <a:avLst>
              <a:gd name="adj" fmla="val 6250"/>
            </a:avLst>
          </a:prstGeom>
          <a:solidFill>
            <a:srgbClr val="F1F6FC"/>
          </a:solidFill>
          <a:ln w="12700">
            <a:solidFill>
              <a:srgbClr val="C6D9F0"/>
            </a:solidFill>
            <a:prstDash val="solid"/>
          </a:ln>
          <a:effectLst>
            <a:outerShdw sx="100000" sy="100000" kx="0" ky="0" algn="bl" rotWithShape="0" blurRad="19050" dist="50800" dir="2700000">
              <a:srgbClr val="C8D4E3">
                <a:alpha val="14000"/>
              </a:srgbClr>
            </a:outerShdw>
          </a:effectLst>
        </p:spPr>
      </p:sp>
      <p:sp>
        <p:nvSpPr>
          <p:cNvPr id="34" name="Text 27"/>
          <p:cNvSpPr/>
          <p:nvPr/>
        </p:nvSpPr>
        <p:spPr>
          <a:xfrm>
            <a:off x="1435608" y="4700016"/>
            <a:ext cx="3429000" cy="274320"/>
          </a:xfrm>
          <a:prstGeom prst="rect">
            <a:avLst/>
          </a:prstGeom>
          <a:noFill/>
          <a:ln/>
        </p:spPr>
        <p:txBody>
          <a:bodyPr wrap="square" lIns="0" tIns="0" rIns="0" bIns="0" rtlCol="0" anchor="ctr"/>
          <a:lstStyle/>
          <a:p>
            <a:pPr indent="0" marL="0">
              <a:buNone/>
            </a:pPr>
            <a:r>
              <a:rPr lang="en-US" sz="1700" b="1" dirty="0">
                <a:solidFill>
                  <a:srgbClr val="0B2E63"/>
                </a:solidFill>
              </a:rPr>
              <a:t>The audit trail answers four simple questions:</a:t>
            </a:r>
            <a:endParaRPr lang="en-US" sz="1700" dirty="0"/>
          </a:p>
        </p:txBody>
      </p:sp>
      <p:pic>
        <p:nvPicPr>
          <p:cNvPr id="3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37760" y="4672584"/>
            <a:ext cx="237744" cy="237744"/>
          </a:xfrm>
          <a:prstGeom prst="rect">
            <a:avLst/>
          </a:prstGeom>
        </p:spPr>
      </p:pic>
      <p:sp>
        <p:nvSpPr>
          <p:cNvPr id="36" name="Text 28"/>
          <p:cNvSpPr/>
          <p:nvPr/>
        </p:nvSpPr>
        <p:spPr>
          <a:xfrm>
            <a:off x="5266944" y="4654296"/>
            <a:ext cx="1060704" cy="384048"/>
          </a:xfrm>
          <a:prstGeom prst="rect">
            <a:avLst/>
          </a:prstGeom>
          <a:noFill/>
          <a:ln/>
        </p:spPr>
        <p:txBody>
          <a:bodyPr wrap="square" lIns="0" tIns="0" rIns="0" bIns="0" rtlCol="0" anchor="ctr">
            <a:normAutofit/>
          </a:bodyPr>
          <a:lstStyle/>
          <a:p>
            <a:pPr indent="0" marL="0">
              <a:buNone/>
            </a:pPr>
            <a:r>
              <a:rPr lang="en-US" sz="1150" b="1" dirty="0">
                <a:solidFill>
                  <a:srgbClr val="334155"/>
                </a:solidFill>
              </a:rPr>
              <a:t>Who approved?</a:t>
            </a:r>
            <a:endParaRPr lang="en-US" sz="1150" dirty="0"/>
          </a:p>
        </p:txBody>
      </p:sp>
      <p:pic>
        <p:nvPicPr>
          <p:cNvPr id="3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19088" y="4672584"/>
            <a:ext cx="237744" cy="237744"/>
          </a:xfrm>
          <a:prstGeom prst="rect">
            <a:avLst/>
          </a:prstGeom>
        </p:spPr>
      </p:pic>
      <p:sp>
        <p:nvSpPr>
          <p:cNvPr id="38" name="Text 29"/>
          <p:cNvSpPr/>
          <p:nvPr/>
        </p:nvSpPr>
        <p:spPr>
          <a:xfrm>
            <a:off x="6748272" y="4654296"/>
            <a:ext cx="1060704" cy="384048"/>
          </a:xfrm>
          <a:prstGeom prst="rect">
            <a:avLst/>
          </a:prstGeom>
          <a:noFill/>
          <a:ln/>
        </p:spPr>
        <p:txBody>
          <a:bodyPr wrap="square" lIns="0" tIns="0" rIns="0" bIns="0" rtlCol="0" anchor="ctr">
            <a:normAutofit/>
          </a:bodyPr>
          <a:lstStyle/>
          <a:p>
            <a:pPr indent="0" marL="0">
              <a:buNone/>
            </a:pPr>
            <a:r>
              <a:rPr lang="en-US" sz="1150" b="1" dirty="0">
                <a:solidFill>
                  <a:srgbClr val="334155"/>
                </a:solidFill>
              </a:rPr>
              <a:t>What changed?</a:t>
            </a:r>
            <a:endParaRPr lang="en-US" sz="1150" dirty="0"/>
          </a:p>
        </p:txBody>
      </p:sp>
      <p:pic>
        <p:nvPicPr>
          <p:cNvPr id="3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900416" y="4672584"/>
            <a:ext cx="237744" cy="237744"/>
          </a:xfrm>
          <a:prstGeom prst="rect">
            <a:avLst/>
          </a:prstGeom>
        </p:spPr>
      </p:pic>
      <p:sp>
        <p:nvSpPr>
          <p:cNvPr id="40" name="Text 30"/>
          <p:cNvSpPr/>
          <p:nvPr/>
        </p:nvSpPr>
        <p:spPr>
          <a:xfrm>
            <a:off x="8229600" y="4654296"/>
            <a:ext cx="1060704" cy="384048"/>
          </a:xfrm>
          <a:prstGeom prst="rect">
            <a:avLst/>
          </a:prstGeom>
          <a:noFill/>
          <a:ln/>
        </p:spPr>
        <p:txBody>
          <a:bodyPr wrap="square" lIns="0" tIns="0" rIns="0" bIns="0" rtlCol="0" anchor="ctr">
            <a:normAutofit/>
          </a:bodyPr>
          <a:lstStyle/>
          <a:p>
            <a:pPr indent="0" marL="0">
              <a:buNone/>
            </a:pPr>
            <a:r>
              <a:rPr lang="en-US" sz="1150" b="1" dirty="0">
                <a:solidFill>
                  <a:srgbClr val="334155"/>
                </a:solidFill>
              </a:rPr>
              <a:t>When?</a:t>
            </a:r>
            <a:endParaRPr lang="en-US" sz="1150" dirty="0"/>
          </a:p>
        </p:txBody>
      </p:sp>
      <p:pic>
        <p:nvPicPr>
          <p:cNvPr id="41"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381744" y="4672584"/>
            <a:ext cx="237744" cy="237744"/>
          </a:xfrm>
          <a:prstGeom prst="rect">
            <a:avLst/>
          </a:prstGeom>
        </p:spPr>
      </p:pic>
      <p:sp>
        <p:nvSpPr>
          <p:cNvPr id="42" name="Text 31"/>
          <p:cNvSpPr/>
          <p:nvPr/>
        </p:nvSpPr>
        <p:spPr>
          <a:xfrm>
            <a:off x="9710928" y="4654296"/>
            <a:ext cx="1060704" cy="384048"/>
          </a:xfrm>
          <a:prstGeom prst="rect">
            <a:avLst/>
          </a:prstGeom>
          <a:noFill/>
          <a:ln/>
        </p:spPr>
        <p:txBody>
          <a:bodyPr wrap="square" lIns="0" tIns="0" rIns="0" bIns="0" rtlCol="0" anchor="ctr">
            <a:normAutofit/>
          </a:bodyPr>
          <a:lstStyle/>
          <a:p>
            <a:pPr indent="0" marL="0">
              <a:buNone/>
            </a:pPr>
            <a:r>
              <a:rPr lang="en-US" sz="1150" b="1" dirty="0">
                <a:solidFill>
                  <a:srgbClr val="334155"/>
                </a:solidFill>
              </a:rPr>
              <a:t>What evidence was used?</a:t>
            </a:r>
            <a:endParaRPr lang="en-US" sz="1150" dirty="0"/>
          </a:p>
        </p:txBody>
      </p:sp>
      <p:sp>
        <p:nvSpPr>
          <p:cNvPr id="43" name="Text 32"/>
          <p:cNvSpPr/>
          <p:nvPr/>
        </p:nvSpPr>
        <p:spPr>
          <a:xfrm>
            <a:off x="1399032" y="5184648"/>
            <a:ext cx="9125712" cy="246888"/>
          </a:xfrm>
          <a:prstGeom prst="rect">
            <a:avLst/>
          </a:prstGeom>
          <a:noFill/>
          <a:ln/>
        </p:spPr>
        <p:txBody>
          <a:bodyPr wrap="square" lIns="0" tIns="0" rIns="0" bIns="0" rtlCol="0" anchor="ctr">
            <a:normAutofit/>
          </a:bodyPr>
          <a:lstStyle/>
          <a:p>
            <a:pPr algn="ctr" indent="0" marL="0">
              <a:buNone/>
            </a:pPr>
            <a:r>
              <a:rPr lang="en-US" sz="1450" dirty="0">
                <a:solidFill>
                  <a:srgbClr val="334155"/>
                </a:solidFill>
              </a:rPr>
              <a:t>The customer issue moves forward, and the bank can still explain exactly how it happened.</a:t>
            </a:r>
            <a:endParaRPr lang="en-US" sz="145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38912" y="347472"/>
            <a:ext cx="11247120" cy="502920"/>
          </a:xfrm>
          <a:prstGeom prst="rect">
            <a:avLst/>
          </a:prstGeom>
          <a:noFill/>
          <a:ln/>
        </p:spPr>
        <p:txBody>
          <a:bodyPr wrap="square" lIns="0" tIns="0" rIns="0" bIns="0" rtlCol="0" anchor="ctr">
            <a:normAutofit/>
          </a:bodyPr>
          <a:lstStyle/>
          <a:p>
            <a:pPr indent="0" marL="0">
              <a:buNone/>
            </a:pPr>
            <a:r>
              <a:rPr lang="en-US" sz="2700" b="1" dirty="0">
                <a:solidFill>
                  <a:srgbClr val="0B2E63"/>
                </a:solidFill>
                <a:latin typeface="Aptos Display" pitchFamily="34" charset="0"/>
                <a:ea typeface="Aptos Display" pitchFamily="34" charset="-122"/>
                <a:cs typeface="Aptos Display" pitchFamily="34" charset="-120"/>
              </a:rPr>
              <a:t>What changed for the employee?</a:t>
            </a:r>
            <a:endParaRPr lang="en-US" sz="2700" dirty="0"/>
          </a:p>
        </p:txBody>
      </p:sp>
      <p:sp>
        <p:nvSpPr>
          <p:cNvPr id="3" name="Text 1"/>
          <p:cNvSpPr/>
          <p:nvPr/>
        </p:nvSpPr>
        <p:spPr>
          <a:xfrm>
            <a:off x="457200" y="896112"/>
            <a:ext cx="1097280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The same person can spend less time searching and more time helping.</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658368" y="1783080"/>
            <a:ext cx="5239512" cy="4206240"/>
          </a:xfrm>
          <a:prstGeom prst="roundRect">
            <a:avLst>
              <a:gd name="adj" fmla="val 1739"/>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6" name="Text 4"/>
          <p:cNvSpPr/>
          <p:nvPr/>
        </p:nvSpPr>
        <p:spPr>
          <a:xfrm>
            <a:off x="932688" y="2066544"/>
            <a:ext cx="1143000" cy="320040"/>
          </a:xfrm>
          <a:prstGeom prst="rect">
            <a:avLst/>
          </a:prstGeom>
          <a:noFill/>
          <a:ln/>
        </p:spPr>
        <p:txBody>
          <a:bodyPr wrap="square" lIns="0" tIns="0" rIns="0" bIns="0" rtlCol="0" anchor="ctr"/>
          <a:lstStyle/>
          <a:p>
            <a:pPr indent="0" marL="0">
              <a:buNone/>
            </a:pPr>
            <a:r>
              <a:rPr lang="en-US" sz="2300" b="1" dirty="0">
                <a:solidFill>
                  <a:srgbClr val="C43D3D"/>
                </a:solidFill>
              </a:rPr>
              <a:t>Before</a:t>
            </a:r>
            <a:endParaRPr lang="en-US" sz="23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26280" y="2011680"/>
            <a:ext cx="548640" cy="548640"/>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7552" y="2788920"/>
            <a:ext cx="201168" cy="201168"/>
          </a:xfrm>
          <a:prstGeom prst="rect">
            <a:avLst/>
          </a:prstGeom>
        </p:spPr>
      </p:pic>
      <p:sp>
        <p:nvSpPr>
          <p:cNvPr id="9" name="Text 5"/>
          <p:cNvSpPr/>
          <p:nvPr/>
        </p:nvSpPr>
        <p:spPr>
          <a:xfrm>
            <a:off x="1298448" y="2779776"/>
            <a:ext cx="40782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Open several systems</a:t>
            </a:r>
            <a:endParaRPr lang="en-US" sz="15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7552" y="3337560"/>
            <a:ext cx="201168" cy="201168"/>
          </a:xfrm>
          <a:prstGeom prst="rect">
            <a:avLst/>
          </a:prstGeom>
        </p:spPr>
      </p:pic>
      <p:sp>
        <p:nvSpPr>
          <p:cNvPr id="11" name="Text 6"/>
          <p:cNvSpPr/>
          <p:nvPr/>
        </p:nvSpPr>
        <p:spPr>
          <a:xfrm>
            <a:off x="1298448" y="3328416"/>
            <a:ext cx="40782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Interpret codes manually</a:t>
            </a:r>
            <a:endParaRPr lang="en-US" sz="15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7552" y="3886200"/>
            <a:ext cx="201168" cy="201168"/>
          </a:xfrm>
          <a:prstGeom prst="rect">
            <a:avLst/>
          </a:prstGeom>
        </p:spPr>
      </p:pic>
      <p:sp>
        <p:nvSpPr>
          <p:cNvPr id="13" name="Text 7"/>
          <p:cNvSpPr/>
          <p:nvPr/>
        </p:nvSpPr>
        <p:spPr>
          <a:xfrm>
            <a:off x="1298448" y="3877056"/>
            <a:ext cx="40782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Search for the right procedure</a:t>
            </a:r>
            <a:endParaRPr lang="en-US" sz="150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7552" y="4434840"/>
            <a:ext cx="201168" cy="201168"/>
          </a:xfrm>
          <a:prstGeom prst="rect">
            <a:avLst/>
          </a:prstGeom>
        </p:spPr>
      </p:pic>
      <p:sp>
        <p:nvSpPr>
          <p:cNvPr id="15" name="Text 8"/>
          <p:cNvSpPr/>
          <p:nvPr/>
        </p:nvSpPr>
        <p:spPr>
          <a:xfrm>
            <a:off x="1298448" y="4425696"/>
            <a:ext cx="407822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Document the case afterwards</a:t>
            </a:r>
            <a:endParaRPr lang="en-US" sz="1500" dirty="0"/>
          </a:p>
        </p:txBody>
      </p:sp>
      <p:sp>
        <p:nvSpPr>
          <p:cNvPr id="16" name="Text 9"/>
          <p:cNvSpPr/>
          <p:nvPr/>
        </p:nvSpPr>
        <p:spPr>
          <a:xfrm>
            <a:off x="1051560" y="5266944"/>
            <a:ext cx="4297680" cy="301752"/>
          </a:xfrm>
          <a:prstGeom prst="rect">
            <a:avLst/>
          </a:prstGeom>
          <a:noFill/>
          <a:ln/>
        </p:spPr>
        <p:txBody>
          <a:bodyPr wrap="square" lIns="0" tIns="0" rIns="0" bIns="0" rtlCol="0" anchor="ctr"/>
          <a:lstStyle/>
          <a:p>
            <a:pPr algn="ctr" indent="0" marL="0">
              <a:buNone/>
            </a:pPr>
            <a:r>
              <a:rPr lang="en-US" sz="1800" b="1" dirty="0">
                <a:solidFill>
                  <a:srgbClr val="C43D3D"/>
                </a:solidFill>
              </a:rPr>
              <a:t>More time searching</a:t>
            </a:r>
            <a:endParaRPr lang="en-US" sz="1800" dirty="0"/>
          </a:p>
        </p:txBody>
      </p:sp>
      <p:sp>
        <p:nvSpPr>
          <p:cNvPr id="17" name="Shape 10"/>
          <p:cNvSpPr/>
          <p:nvPr/>
        </p:nvSpPr>
        <p:spPr>
          <a:xfrm>
            <a:off x="6291072" y="1783080"/>
            <a:ext cx="5239512" cy="4206240"/>
          </a:xfrm>
          <a:prstGeom prst="roundRect">
            <a:avLst>
              <a:gd name="adj" fmla="val 1739"/>
            </a:avLst>
          </a:prstGeom>
          <a:solidFill>
            <a:srgbClr val="F1F6FC"/>
          </a:solidFill>
          <a:ln w="12700">
            <a:solidFill>
              <a:srgbClr val="BCD2EB"/>
            </a:solidFill>
            <a:prstDash val="solid"/>
          </a:ln>
          <a:effectLst>
            <a:outerShdw sx="100000" sy="100000" kx="0" ky="0" algn="bl" rotWithShape="0" blurRad="19050" dist="50800" dir="2700000">
              <a:srgbClr val="C8D4E3">
                <a:alpha val="14000"/>
              </a:srgbClr>
            </a:outerShdw>
          </a:effectLst>
        </p:spPr>
      </p:sp>
      <p:sp>
        <p:nvSpPr>
          <p:cNvPr id="18" name="Text 11"/>
          <p:cNvSpPr/>
          <p:nvPr/>
        </p:nvSpPr>
        <p:spPr>
          <a:xfrm>
            <a:off x="6565392" y="2066544"/>
            <a:ext cx="2240280" cy="320040"/>
          </a:xfrm>
          <a:prstGeom prst="rect">
            <a:avLst/>
          </a:prstGeom>
          <a:noFill/>
          <a:ln/>
        </p:spPr>
        <p:txBody>
          <a:bodyPr wrap="square" lIns="0" tIns="0" rIns="0" bIns="0" rtlCol="0" anchor="ctr"/>
          <a:lstStyle/>
          <a:p>
            <a:pPr indent="0" marL="0">
              <a:buNone/>
            </a:pPr>
            <a:r>
              <a:rPr lang="en-US" sz="2300" b="1" dirty="0">
                <a:solidFill>
                  <a:srgbClr val="1F8B4C"/>
                </a:solidFill>
              </a:rPr>
              <a:t>With the AI assistant</a:t>
            </a:r>
            <a:endParaRPr lang="en-US" sz="230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186416" y="2011680"/>
            <a:ext cx="548640" cy="548640"/>
          </a:xfrm>
          <a:prstGeom prst="rect">
            <a:avLst/>
          </a:prstGeom>
        </p:spPr>
      </p:pic>
      <p:pic>
        <p:nvPicPr>
          <p:cNvPr id="2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20256" y="2788920"/>
            <a:ext cx="201168" cy="201168"/>
          </a:xfrm>
          <a:prstGeom prst="rect">
            <a:avLst/>
          </a:prstGeom>
        </p:spPr>
      </p:pic>
      <p:sp>
        <p:nvSpPr>
          <p:cNvPr id="21" name="Text 12"/>
          <p:cNvSpPr/>
          <p:nvPr/>
        </p:nvSpPr>
        <p:spPr>
          <a:xfrm>
            <a:off x="6931152" y="2779776"/>
            <a:ext cx="412394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AI gathers the facts</a:t>
            </a:r>
            <a:endParaRPr lang="en-US" sz="1500" dirty="0"/>
          </a:p>
        </p:txBody>
      </p:sp>
      <p:pic>
        <p:nvPicPr>
          <p:cNvPr id="22"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620256" y="3337560"/>
            <a:ext cx="201168" cy="201168"/>
          </a:xfrm>
          <a:prstGeom prst="rect">
            <a:avLst/>
          </a:prstGeom>
        </p:spPr>
      </p:pic>
      <p:sp>
        <p:nvSpPr>
          <p:cNvPr id="23" name="Text 13"/>
          <p:cNvSpPr/>
          <p:nvPr/>
        </p:nvSpPr>
        <p:spPr>
          <a:xfrm>
            <a:off x="6931152" y="3328416"/>
            <a:ext cx="412394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AI finds the right procedure</a:t>
            </a:r>
            <a:endParaRPr lang="en-US" sz="1500" dirty="0"/>
          </a:p>
        </p:txBody>
      </p:sp>
      <p:pic>
        <p:nvPicPr>
          <p:cNvPr id="24"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20256" y="3886200"/>
            <a:ext cx="201168" cy="201168"/>
          </a:xfrm>
          <a:prstGeom prst="rect">
            <a:avLst/>
          </a:prstGeom>
        </p:spPr>
      </p:pic>
      <p:sp>
        <p:nvSpPr>
          <p:cNvPr id="25" name="Text 14"/>
          <p:cNvSpPr/>
          <p:nvPr/>
        </p:nvSpPr>
        <p:spPr>
          <a:xfrm>
            <a:off x="6931152" y="3877056"/>
            <a:ext cx="412394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AI prepares a clear recommendation</a:t>
            </a:r>
            <a:endParaRPr lang="en-US" sz="1500" dirty="0"/>
          </a:p>
        </p:txBody>
      </p:sp>
      <p:pic>
        <p:nvPicPr>
          <p:cNvPr id="26"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620256" y="4434840"/>
            <a:ext cx="201168" cy="201168"/>
          </a:xfrm>
          <a:prstGeom prst="rect">
            <a:avLst/>
          </a:prstGeom>
        </p:spPr>
      </p:pic>
      <p:sp>
        <p:nvSpPr>
          <p:cNvPr id="27" name="Text 15"/>
          <p:cNvSpPr/>
          <p:nvPr/>
        </p:nvSpPr>
        <p:spPr>
          <a:xfrm>
            <a:off x="6931152" y="4425696"/>
            <a:ext cx="4123944" cy="256032"/>
          </a:xfrm>
          <a:prstGeom prst="rect">
            <a:avLst/>
          </a:prstGeom>
          <a:noFill/>
          <a:ln/>
        </p:spPr>
        <p:txBody>
          <a:bodyPr wrap="square" lIns="0" tIns="0" rIns="0" bIns="0" rtlCol="0" anchor="ctr">
            <a:normAutofit/>
          </a:bodyPr>
          <a:lstStyle/>
          <a:p>
            <a:pPr indent="0" marL="0">
              <a:buNone/>
            </a:pPr>
            <a:r>
              <a:rPr lang="en-US" sz="1500" dirty="0">
                <a:solidFill>
                  <a:srgbClr val="334155"/>
                </a:solidFill>
              </a:rPr>
              <a:t>Employee approves and talks to customer</a:t>
            </a:r>
            <a:endParaRPr lang="en-US" sz="1500" dirty="0"/>
          </a:p>
        </p:txBody>
      </p:sp>
      <p:sp>
        <p:nvSpPr>
          <p:cNvPr id="28" name="Text 16"/>
          <p:cNvSpPr/>
          <p:nvPr/>
        </p:nvSpPr>
        <p:spPr>
          <a:xfrm>
            <a:off x="6684264" y="5266944"/>
            <a:ext cx="4297680" cy="301752"/>
          </a:xfrm>
          <a:prstGeom prst="rect">
            <a:avLst/>
          </a:prstGeom>
          <a:noFill/>
          <a:ln/>
        </p:spPr>
        <p:txBody>
          <a:bodyPr wrap="square" lIns="0" tIns="0" rIns="0" bIns="0" rtlCol="0" anchor="ctr"/>
          <a:lstStyle/>
          <a:p>
            <a:pPr algn="ctr" indent="0" marL="0">
              <a:buNone/>
            </a:pPr>
            <a:r>
              <a:rPr lang="en-US" sz="1800" b="1" dirty="0">
                <a:solidFill>
                  <a:srgbClr val="1F8B4C"/>
                </a:solidFill>
              </a:rPr>
              <a:t>More time helping</a:t>
            </a:r>
            <a:endParaRPr lang="en-US" sz="180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38912" y="347472"/>
            <a:ext cx="11247120" cy="502920"/>
          </a:xfrm>
          <a:prstGeom prst="rect">
            <a:avLst/>
          </a:prstGeom>
          <a:noFill/>
          <a:ln/>
        </p:spPr>
        <p:txBody>
          <a:bodyPr wrap="square" lIns="0" tIns="0" rIns="0" bIns="0" rtlCol="0" anchor="ctr">
            <a:normAutofit/>
          </a:bodyPr>
          <a:lstStyle/>
          <a:p>
            <a:pPr indent="0" marL="0">
              <a:buNone/>
            </a:pPr>
            <a:r>
              <a:rPr lang="en-US" sz="2700" b="1" dirty="0">
                <a:solidFill>
                  <a:srgbClr val="0B2E63"/>
                </a:solidFill>
                <a:latin typeface="Aptos Display" pitchFamily="34" charset="0"/>
                <a:ea typeface="Aptos Display" pitchFamily="34" charset="-122"/>
                <a:cs typeface="Aptos Display" pitchFamily="34" charset="-120"/>
              </a:rPr>
              <a:t>What this demo proves</a:t>
            </a:r>
            <a:endParaRPr lang="en-US" sz="2700" dirty="0"/>
          </a:p>
        </p:txBody>
      </p:sp>
      <p:sp>
        <p:nvSpPr>
          <p:cNvPr id="3" name="Text 1"/>
          <p:cNvSpPr/>
          <p:nvPr/>
        </p:nvSpPr>
        <p:spPr>
          <a:xfrm>
            <a:off x="457200" y="896112"/>
            <a:ext cx="10972800" cy="329184"/>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Aptos" pitchFamily="34" charset="0"/>
                <a:ea typeface="Aptos" pitchFamily="34" charset="-122"/>
                <a:cs typeface="Aptos" pitchFamily="34" charset="-120"/>
              </a:rPr>
              <a:t>A small proof of concept can demonstrate a much bigger operating model.</a:t>
            </a:r>
            <a:endParaRPr lang="en-US" sz="1300" dirty="0"/>
          </a:p>
        </p:txBody>
      </p:sp>
      <p:sp>
        <p:nvSpPr>
          <p:cNvPr id="4" name="Shape 2"/>
          <p:cNvSpPr/>
          <p:nvPr/>
        </p:nvSpPr>
        <p:spPr>
          <a:xfrm>
            <a:off x="457200" y="1289304"/>
            <a:ext cx="960120" cy="0"/>
          </a:xfrm>
          <a:prstGeom prst="line">
            <a:avLst/>
          </a:prstGeom>
          <a:noFill/>
          <a:ln w="29210">
            <a:solidFill>
              <a:srgbClr val="1E5AA8"/>
            </a:solidFill>
            <a:prstDash val="solid"/>
          </a:ln>
        </p:spPr>
      </p:sp>
      <p:sp>
        <p:nvSpPr>
          <p:cNvPr id="5" name="Shape 3"/>
          <p:cNvSpPr/>
          <p:nvPr/>
        </p:nvSpPr>
        <p:spPr>
          <a:xfrm>
            <a:off x="731520" y="1883664"/>
            <a:ext cx="2971800" cy="3218688"/>
          </a:xfrm>
          <a:prstGeom prst="roundRect">
            <a:avLst>
              <a:gd name="adj" fmla="val 2462"/>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6" name="Shape 4"/>
          <p:cNvSpPr/>
          <p:nvPr/>
        </p:nvSpPr>
        <p:spPr>
          <a:xfrm>
            <a:off x="1792224" y="2267712"/>
            <a:ext cx="841248" cy="841248"/>
          </a:xfrm>
          <a:prstGeom prst="ellipse">
            <a:avLst/>
          </a:prstGeom>
          <a:solidFill>
            <a:srgbClr val="FFF4D8"/>
          </a:solidFill>
          <a:ln w="12700">
            <a:solidFill>
              <a:srgbClr val="D9E2E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20824" y="2487168"/>
            <a:ext cx="384048" cy="384048"/>
          </a:xfrm>
          <a:prstGeom prst="rect">
            <a:avLst/>
          </a:prstGeom>
        </p:spPr>
      </p:pic>
      <p:sp>
        <p:nvSpPr>
          <p:cNvPr id="8" name="Text 5"/>
          <p:cNvSpPr/>
          <p:nvPr/>
        </p:nvSpPr>
        <p:spPr>
          <a:xfrm>
            <a:off x="987552" y="3383280"/>
            <a:ext cx="2468880" cy="475488"/>
          </a:xfrm>
          <a:prstGeom prst="rect">
            <a:avLst/>
          </a:prstGeom>
          <a:noFill/>
          <a:ln/>
        </p:spPr>
        <p:txBody>
          <a:bodyPr wrap="square" lIns="0" tIns="0" rIns="0" bIns="0" rtlCol="0" anchor="ctr">
            <a:normAutofit/>
          </a:bodyPr>
          <a:lstStyle/>
          <a:p>
            <a:pPr algn="ctr" indent="0" marL="0">
              <a:buNone/>
            </a:pPr>
            <a:r>
              <a:rPr lang="en-US" sz="1900" b="1" dirty="0">
                <a:solidFill>
                  <a:srgbClr val="0B2E63"/>
                </a:solidFill>
              </a:rPr>
              <a:t>AI can increase capacity</a:t>
            </a:r>
            <a:endParaRPr lang="en-US" sz="1900" dirty="0"/>
          </a:p>
        </p:txBody>
      </p:sp>
      <p:sp>
        <p:nvSpPr>
          <p:cNvPr id="9" name="Text 6"/>
          <p:cNvSpPr/>
          <p:nvPr/>
        </p:nvSpPr>
        <p:spPr>
          <a:xfrm>
            <a:off x="1024128" y="4078224"/>
            <a:ext cx="2395728" cy="658368"/>
          </a:xfrm>
          <a:prstGeom prst="rect">
            <a:avLst/>
          </a:prstGeom>
          <a:noFill/>
          <a:ln/>
        </p:spPr>
        <p:txBody>
          <a:bodyPr wrap="square" lIns="0" tIns="0" rIns="0" bIns="0" rtlCol="0" anchor="ctr">
            <a:normAutofit/>
          </a:bodyPr>
          <a:lstStyle/>
          <a:p>
            <a:pPr algn="ctr" indent="0" marL="0">
              <a:buNone/>
            </a:pPr>
            <a:r>
              <a:rPr lang="en-US" sz="1380" dirty="0">
                <a:solidFill>
                  <a:srgbClr val="334155"/>
                </a:solidFill>
              </a:rPr>
              <a:t>It can gather information, find the relevant procedure, and prepare the next step.</a:t>
            </a:r>
            <a:endParaRPr lang="en-US" sz="1380" dirty="0"/>
          </a:p>
        </p:txBody>
      </p:sp>
      <p:sp>
        <p:nvSpPr>
          <p:cNvPr id="10" name="Shape 7"/>
          <p:cNvSpPr/>
          <p:nvPr/>
        </p:nvSpPr>
        <p:spPr>
          <a:xfrm>
            <a:off x="4133088" y="1883664"/>
            <a:ext cx="2971800" cy="3218688"/>
          </a:xfrm>
          <a:prstGeom prst="roundRect">
            <a:avLst>
              <a:gd name="adj" fmla="val 2462"/>
            </a:avLst>
          </a:prstGeom>
          <a:solidFill>
            <a:srgbClr val="F1F6FC"/>
          </a:solidFill>
          <a:ln w="12700">
            <a:solidFill>
              <a:srgbClr val="BCD2EB"/>
            </a:solidFill>
            <a:prstDash val="solid"/>
          </a:ln>
          <a:effectLst>
            <a:outerShdw sx="100000" sy="100000" kx="0" ky="0" algn="bl" rotWithShape="0" blurRad="19050" dist="50800" dir="2700000">
              <a:srgbClr val="C8D4E3">
                <a:alpha val="14000"/>
              </a:srgbClr>
            </a:outerShdw>
          </a:effectLst>
        </p:spPr>
      </p:sp>
      <p:sp>
        <p:nvSpPr>
          <p:cNvPr id="11" name="Shape 8"/>
          <p:cNvSpPr/>
          <p:nvPr/>
        </p:nvSpPr>
        <p:spPr>
          <a:xfrm>
            <a:off x="5193792" y="2267712"/>
            <a:ext cx="841248" cy="841248"/>
          </a:xfrm>
          <a:prstGeom prst="ellipse">
            <a:avLst/>
          </a:prstGeom>
          <a:solidFill>
            <a:srgbClr val="EAF2FB"/>
          </a:solidFill>
          <a:ln w="12700">
            <a:solidFill>
              <a:srgbClr val="D9E2EF"/>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22392" y="2487168"/>
            <a:ext cx="384048" cy="384048"/>
          </a:xfrm>
          <a:prstGeom prst="rect">
            <a:avLst/>
          </a:prstGeom>
        </p:spPr>
      </p:pic>
      <p:sp>
        <p:nvSpPr>
          <p:cNvPr id="13" name="Text 9"/>
          <p:cNvSpPr/>
          <p:nvPr/>
        </p:nvSpPr>
        <p:spPr>
          <a:xfrm>
            <a:off x="4389120" y="3383280"/>
            <a:ext cx="2468880" cy="475488"/>
          </a:xfrm>
          <a:prstGeom prst="rect">
            <a:avLst/>
          </a:prstGeom>
          <a:noFill/>
          <a:ln/>
        </p:spPr>
        <p:txBody>
          <a:bodyPr wrap="square" lIns="0" tIns="0" rIns="0" bIns="0" rtlCol="0" anchor="ctr">
            <a:normAutofit/>
          </a:bodyPr>
          <a:lstStyle/>
          <a:p>
            <a:pPr algn="ctr" indent="0" marL="0">
              <a:buNone/>
            </a:pPr>
            <a:r>
              <a:rPr lang="en-US" sz="1900" b="1" dirty="0">
                <a:solidFill>
                  <a:srgbClr val="0B2E63"/>
                </a:solidFill>
              </a:rPr>
              <a:t>Controls can stay in place</a:t>
            </a:r>
            <a:endParaRPr lang="en-US" sz="1900" dirty="0"/>
          </a:p>
        </p:txBody>
      </p:sp>
      <p:sp>
        <p:nvSpPr>
          <p:cNvPr id="14" name="Text 10"/>
          <p:cNvSpPr/>
          <p:nvPr/>
        </p:nvSpPr>
        <p:spPr>
          <a:xfrm>
            <a:off x="4425696" y="4078224"/>
            <a:ext cx="2395728" cy="658368"/>
          </a:xfrm>
          <a:prstGeom prst="rect">
            <a:avLst/>
          </a:prstGeom>
          <a:noFill/>
          <a:ln/>
        </p:spPr>
        <p:txBody>
          <a:bodyPr wrap="square" lIns="0" tIns="0" rIns="0" bIns="0" rtlCol="0" anchor="ctr">
            <a:normAutofit/>
          </a:bodyPr>
          <a:lstStyle/>
          <a:p>
            <a:pPr algn="ctr" indent="0" marL="0">
              <a:buNone/>
            </a:pPr>
            <a:r>
              <a:rPr lang="en-US" sz="1380" dirty="0">
                <a:solidFill>
                  <a:srgbClr val="334155"/>
                </a:solidFill>
              </a:rPr>
              <a:t>The AI only receives the information and procedures the employee is allowed to use.</a:t>
            </a:r>
            <a:endParaRPr lang="en-US" sz="1380" dirty="0"/>
          </a:p>
        </p:txBody>
      </p:sp>
      <p:sp>
        <p:nvSpPr>
          <p:cNvPr id="15" name="Shape 11"/>
          <p:cNvSpPr/>
          <p:nvPr/>
        </p:nvSpPr>
        <p:spPr>
          <a:xfrm>
            <a:off x="7534656" y="1883664"/>
            <a:ext cx="2971800" cy="3218688"/>
          </a:xfrm>
          <a:prstGeom prst="roundRect">
            <a:avLst>
              <a:gd name="adj" fmla="val 2462"/>
            </a:avLst>
          </a:prstGeom>
          <a:solidFill>
            <a:srgbClr val="FFFFFF"/>
          </a:solidFill>
          <a:ln w="12700">
            <a:solidFill>
              <a:srgbClr val="D9E2EF"/>
            </a:solidFill>
            <a:prstDash val="solid"/>
          </a:ln>
          <a:effectLst>
            <a:outerShdw sx="100000" sy="100000" kx="0" ky="0" algn="bl" rotWithShape="0" blurRad="19050" dist="50800" dir="2700000">
              <a:srgbClr val="C8D4E3">
                <a:alpha val="14000"/>
              </a:srgbClr>
            </a:outerShdw>
          </a:effectLst>
        </p:spPr>
      </p:sp>
      <p:sp>
        <p:nvSpPr>
          <p:cNvPr id="16" name="Shape 12"/>
          <p:cNvSpPr/>
          <p:nvPr/>
        </p:nvSpPr>
        <p:spPr>
          <a:xfrm>
            <a:off x="8595360" y="2267712"/>
            <a:ext cx="841248" cy="841248"/>
          </a:xfrm>
          <a:prstGeom prst="ellipse">
            <a:avLst/>
          </a:prstGeom>
          <a:solidFill>
            <a:srgbClr val="E7F5EC"/>
          </a:solidFill>
          <a:ln w="12700">
            <a:solidFill>
              <a:srgbClr val="D9E2E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23960" y="2487168"/>
            <a:ext cx="384048" cy="384048"/>
          </a:xfrm>
          <a:prstGeom prst="rect">
            <a:avLst/>
          </a:prstGeom>
        </p:spPr>
      </p:pic>
      <p:sp>
        <p:nvSpPr>
          <p:cNvPr id="18" name="Text 13"/>
          <p:cNvSpPr/>
          <p:nvPr/>
        </p:nvSpPr>
        <p:spPr>
          <a:xfrm>
            <a:off x="7790688" y="3383280"/>
            <a:ext cx="2468880" cy="475488"/>
          </a:xfrm>
          <a:prstGeom prst="rect">
            <a:avLst/>
          </a:prstGeom>
          <a:noFill/>
          <a:ln/>
        </p:spPr>
        <p:txBody>
          <a:bodyPr wrap="square" lIns="0" tIns="0" rIns="0" bIns="0" rtlCol="0" anchor="ctr">
            <a:normAutofit/>
          </a:bodyPr>
          <a:lstStyle/>
          <a:p>
            <a:pPr algn="ctr" indent="0" marL="0">
              <a:buNone/>
            </a:pPr>
            <a:r>
              <a:rPr lang="en-US" sz="1900" b="1" dirty="0">
                <a:solidFill>
                  <a:srgbClr val="0B2E63"/>
                </a:solidFill>
              </a:rPr>
              <a:t>People remain accountable</a:t>
            </a:r>
            <a:endParaRPr lang="en-US" sz="1900" dirty="0"/>
          </a:p>
        </p:txBody>
      </p:sp>
      <p:sp>
        <p:nvSpPr>
          <p:cNvPr id="19" name="Text 14"/>
          <p:cNvSpPr/>
          <p:nvPr/>
        </p:nvSpPr>
        <p:spPr>
          <a:xfrm>
            <a:off x="7827264" y="4078224"/>
            <a:ext cx="2395728" cy="658368"/>
          </a:xfrm>
          <a:prstGeom prst="rect">
            <a:avLst/>
          </a:prstGeom>
          <a:noFill/>
          <a:ln/>
        </p:spPr>
        <p:txBody>
          <a:bodyPr wrap="square" lIns="0" tIns="0" rIns="0" bIns="0" rtlCol="0" anchor="ctr">
            <a:normAutofit/>
          </a:bodyPr>
          <a:lstStyle/>
          <a:p>
            <a:pPr algn="ctr" indent="0" marL="0">
              <a:buNone/>
            </a:pPr>
            <a:r>
              <a:rPr lang="en-US" sz="1380" dirty="0">
                <a:solidFill>
                  <a:srgbClr val="334155"/>
                </a:solidFill>
              </a:rPr>
              <a:t>The employee keeps control of consequential decisions and the customer relationship.</a:t>
            </a:r>
            <a:endParaRPr lang="en-US" sz="1380" dirty="0"/>
          </a:p>
        </p:txBody>
      </p:sp>
      <p:sp>
        <p:nvSpPr>
          <p:cNvPr id="20" name="Shape 15"/>
          <p:cNvSpPr/>
          <p:nvPr/>
        </p:nvSpPr>
        <p:spPr>
          <a:xfrm>
            <a:off x="1463040" y="5513832"/>
            <a:ext cx="9281160" cy="603504"/>
          </a:xfrm>
          <a:prstGeom prst="roundRect">
            <a:avLst>
              <a:gd name="adj" fmla="val 12121"/>
            </a:avLst>
          </a:prstGeom>
          <a:solidFill>
            <a:srgbClr val="0B2E63"/>
          </a:solidFill>
          <a:ln w="12700">
            <a:solidFill>
              <a:srgbClr val="0B2E63"/>
            </a:solidFill>
            <a:prstDash val="solid"/>
          </a:ln>
        </p:spPr>
      </p:sp>
      <p:sp>
        <p:nvSpPr>
          <p:cNvPr id="21" name="Text 16"/>
          <p:cNvSpPr/>
          <p:nvPr/>
        </p:nvSpPr>
        <p:spPr>
          <a:xfrm>
            <a:off x="1737360" y="5696712"/>
            <a:ext cx="8732520" cy="22860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rPr>
              <a:t>Agentic AI can increase employee capacity without removing human accountability.</a:t>
            </a:r>
            <a:endParaRPr lang="en-US" sz="1800" dirty="0"/>
          </a:p>
        </p:txBody>
      </p:sp>
      <p:sp>
        <p:nvSpPr>
          <p:cNvPr id="22" name="Text 17"/>
          <p:cNvSpPr/>
          <p:nvPr/>
        </p:nvSpPr>
        <p:spPr>
          <a:xfrm>
            <a:off x="1874520" y="5084064"/>
            <a:ext cx="8458200" cy="228600"/>
          </a:xfrm>
          <a:prstGeom prst="rect">
            <a:avLst/>
          </a:prstGeom>
          <a:noFill/>
          <a:ln/>
        </p:spPr>
        <p:txBody>
          <a:bodyPr wrap="square" lIns="0" tIns="0" rIns="0" bIns="0" rtlCol="0" anchor="ctr">
            <a:normAutofit/>
          </a:bodyPr>
          <a:lstStyle/>
          <a:p>
            <a:pPr algn="ctr" indent="0" marL="0">
              <a:buNone/>
            </a:pPr>
            <a:r>
              <a:rPr lang="en-US" sz="1180" dirty="0">
                <a:solidFill>
                  <a:srgbClr val="64748B"/>
                </a:solidFill>
              </a:rPr>
              <a:t>Demo note: all customer and banking data is synthetic; the proof of concept can run using Oracle Always Free resources.</a:t>
            </a:r>
            <a:endParaRPr lang="en-US" sz="1180" dirty="0"/>
          </a:p>
        </p:txBody>
      </p:sp>
      <p:sp>
        <p:nvSpPr>
          <p:cNvPr id="25" name="Slide Number Placeholder 0"/>
          <p:cNvSpPr>
            <a:spLocks noGrp="1"/>
          </p:cNvSpPr>
          <p:nvPr>
            <p:ph type="sldNum" sz="quarter" idx="4294967295"/>
          </p:nvPr>
        </p:nvSpPr>
        <p:spPr>
          <a:xfrm>
            <a:off x="11814048" y="6611112"/>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FFFFFF"/>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Portfolio POC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Banking Demo – Plain Language Walkthrough</dc:title>
  <dc:subject>Secure Agentic AI Banking Demo</dc:subject>
  <dc:creator>OpenAI</dc:creator>
  <cp:lastModifiedBy>OpenAI</cp:lastModifiedBy>
  <cp:revision>1</cp:revision>
  <dcterms:created xsi:type="dcterms:W3CDTF">2026-08-24T03:02:46Z</dcterms:created>
  <dcterms:modified xsi:type="dcterms:W3CDTF">2026-08-24T03:02:46Z</dcterms:modified>
</cp:coreProperties>
</file>