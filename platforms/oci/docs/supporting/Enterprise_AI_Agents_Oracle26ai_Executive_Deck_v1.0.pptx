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with Purpose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Building an Enterprise AI Platform with Oracle AI Database 26ai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 Landscape</a:t>
            </a:r>
          </a:p>
          <a:p>
            <a:pPr>
              <a:defRPr sz="2200"/>
            </a:pPr>
            <a:r>
              <a:t>Enterprise AI Strategy</a:t>
            </a:r>
          </a:p>
          <a:p>
            <a:pPr>
              <a:defRPr sz="2200"/>
            </a:pPr>
            <a:r>
              <a:t>Oracle AI Database 26ai</a:t>
            </a:r>
          </a:p>
          <a:p>
            <a:pPr>
              <a:defRPr sz="2200"/>
            </a:pPr>
            <a:r>
              <a:t>Architecture</a:t>
            </a:r>
          </a:p>
          <a:p>
            <a:pPr>
              <a:defRPr sz="2200"/>
            </a:pPr>
            <a:r>
              <a:t>Vector Search &amp; RAG</a:t>
            </a:r>
          </a:p>
          <a:p>
            <a:pPr>
              <a:defRPr sz="2200"/>
            </a:pPr>
            <a:r>
              <a:t>AI Agent</a:t>
            </a:r>
          </a:p>
          <a:p>
            <a:pPr>
              <a:defRPr sz="2200"/>
            </a:pPr>
            <a:r>
              <a:t>Live Demo</a:t>
            </a:r>
          </a:p>
          <a:p>
            <a:pPr>
              <a:defRPr sz="2200"/>
            </a:pPr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Why enterprise AI matters</a:t>
            </a:r>
          </a:p>
          <a:p>
            <a:pPr>
              <a:defRPr sz="2200"/>
            </a:pPr>
            <a:r>
              <a:t>Business outcomes</a:t>
            </a:r>
          </a:p>
          <a:p>
            <a:pPr>
              <a:defRPr sz="2200"/>
            </a:pPr>
            <a:r>
              <a:t>Challenges with public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AI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Trusted enterprise data</a:t>
            </a:r>
          </a:p>
          <a:p>
            <a:pPr>
              <a:defRPr sz="2200"/>
            </a:pPr>
            <a:r>
              <a:t>Security</a:t>
            </a:r>
          </a:p>
          <a:p>
            <a:pPr>
              <a:defRPr sz="2200"/>
            </a:pPr>
            <a:r>
              <a:t>Governance</a:t>
            </a:r>
          </a:p>
          <a:p>
            <a:pPr>
              <a:defRPr sz="2200"/>
            </a:pPr>
            <a:r>
              <a:t>Scalability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 AI Database 26ai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Built-in AI capabilities</a:t>
            </a:r>
          </a:p>
          <a:p>
            <a:pPr>
              <a:defRPr sz="2200"/>
            </a:pPr>
            <a:r>
              <a:t>Native VECTOR datatype</a:t>
            </a:r>
          </a:p>
          <a:p>
            <a:pPr>
              <a:defRPr sz="2200"/>
            </a:pPr>
            <a:r>
              <a:t>In-database AI</a:t>
            </a:r>
          </a:p>
          <a:p>
            <a:pPr>
              <a:defRPr sz="2200"/>
            </a:pPr>
            <a:r>
              <a:t>SQL-first experience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Enterprise Apps</a:t>
            </a:r>
          </a:p>
          <a:p>
            <a:pPr>
              <a:defRPr sz="2200"/>
            </a:pPr>
            <a:r>
              <a:t>Object Storage</a:t>
            </a:r>
          </a:p>
          <a:p>
            <a:pPr>
              <a:defRPr sz="2200"/>
            </a:pPr>
            <a:r>
              <a:t>Oracle AI Database</a:t>
            </a:r>
          </a:p>
          <a:p>
            <a:pPr>
              <a:defRPr sz="2200"/>
            </a:pPr>
            <a:r>
              <a:t>AI Agent Server</a:t>
            </a:r>
          </a:p>
          <a:p>
            <a:pPr>
              <a:defRPr sz="2200"/>
            </a:pPr>
            <a:r>
              <a:t>LLM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Coordinates embeddings</a:t>
            </a:r>
          </a:p>
          <a:p>
            <a:pPr>
              <a:defRPr sz="2200"/>
            </a:pPr>
            <a:r>
              <a:t>Retrieves context</a:t>
            </a:r>
          </a:p>
          <a:p>
            <a:pPr>
              <a:defRPr sz="2200"/>
            </a:pPr>
            <a:r>
              <a:t>Calls LLM</a:t>
            </a:r>
          </a:p>
          <a:p>
            <a:pPr>
              <a:defRPr sz="2200"/>
            </a:pPr>
            <a:r>
              <a:t>Returns grounded answers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Embeddings &amp; Vector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Chunk documents</a:t>
            </a:r>
          </a:p>
          <a:p>
            <a:pPr>
              <a:defRPr sz="2200"/>
            </a:pPr>
            <a:r>
              <a:t>Create embeddings</a:t>
            </a:r>
          </a:p>
          <a:p>
            <a:pPr>
              <a:defRPr sz="2200"/>
            </a:pPr>
            <a:r>
              <a:t>Store vectors</a:t>
            </a:r>
          </a:p>
          <a:p>
            <a:pPr>
              <a:defRPr sz="2200"/>
            </a:pPr>
            <a:r>
              <a:t>Semantic search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Retrieval-Augmented Generation (RAG)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Retrieve relevant context</a:t>
            </a:r>
          </a:p>
          <a:p>
            <a:pPr>
              <a:defRPr sz="2200"/>
            </a:pPr>
            <a:r>
              <a:t>Ground responses</a:t>
            </a:r>
          </a:p>
          <a:p>
            <a:pPr>
              <a:defRPr sz="2200"/>
            </a:pPr>
            <a:r>
              <a:t>Reduce hallucinations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Metadata +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Store vectors with chunk metadata</a:t>
            </a:r>
          </a:p>
          <a:p>
            <a:pPr>
              <a:defRPr sz="2200"/>
            </a:pPr>
            <a:r>
              <a:t>Normalize document metadata</a:t>
            </a:r>
          </a:p>
          <a:p>
            <a:pPr>
              <a:defRPr sz="2200"/>
            </a:pPr>
            <a:r>
              <a:t>Support security and traceability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Knowledge search</a:t>
            </a:r>
          </a:p>
          <a:p>
            <a:pPr>
              <a:defRPr sz="2200"/>
            </a:pPr>
            <a:r>
              <a:t>Customer support</a:t>
            </a:r>
          </a:p>
          <a:p>
            <a:pPr>
              <a:defRPr sz="2200"/>
            </a:pPr>
            <a:r>
              <a:t>Engineering</a:t>
            </a:r>
          </a:p>
          <a:p>
            <a:pPr>
              <a:defRPr sz="2200"/>
            </a:pPr>
            <a:r>
              <a:t>HR</a:t>
            </a:r>
          </a:p>
          <a:p>
            <a:pPr>
              <a:defRPr sz="2200"/>
            </a:pPr>
            <a:r>
              <a:t>Healthcare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Faster decisions</a:t>
            </a:r>
          </a:p>
          <a:p>
            <a:pPr>
              <a:defRPr sz="2200"/>
            </a:pPr>
            <a:r>
              <a:t>Reuse enterprise knowledge</a:t>
            </a:r>
          </a:p>
          <a:p>
            <a:pPr>
              <a:defRPr sz="2200"/>
            </a:pPr>
            <a:r>
              <a:t>Lower risk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Oracle AI Database</a:t>
            </a:r>
          </a:p>
          <a:p>
            <a:pPr>
              <a:defRPr sz="2200"/>
            </a:pPr>
            <a:r>
              <a:t>VECTOR datatype</a:t>
            </a:r>
          </a:p>
          <a:p>
            <a:pPr>
              <a:defRPr sz="2200"/>
            </a:pPr>
            <a:r>
              <a:t>Semantic search</a:t>
            </a:r>
          </a:p>
          <a:p>
            <a:pPr>
              <a:defRPr sz="2200"/>
            </a:pPr>
            <a:r>
              <a:t>RAG</a:t>
            </a:r>
          </a:p>
          <a:p>
            <a:pPr>
              <a:defRPr sz="2200"/>
            </a:pPr>
            <a:r>
              <a:t>AI Agent Server</a:t>
            </a:r>
          </a:p>
          <a:p>
            <a:pPr>
              <a:defRPr sz="2200"/>
            </a:pPr>
            <a:r>
              <a:t>Business questions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Enterprise AI uses trusted data</a:t>
            </a:r>
          </a:p>
          <a:p>
            <a:pPr>
              <a:defRPr sz="2200"/>
            </a:pPr>
            <a:r>
              <a:t>Oracle AI Database simplifies AI</a:t>
            </a:r>
          </a:p>
          <a:p>
            <a:pPr>
              <a:defRPr sz="2200"/>
            </a:pPr>
            <a:r>
              <a:t>RAG improves answer quality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 AI Learning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Oracle University</a:t>
            </a:r>
          </a:p>
          <a:p>
            <a:pPr>
              <a:defRPr sz="2200"/>
            </a:pPr>
            <a:r>
              <a:t>LiveLabs</a:t>
            </a:r>
          </a:p>
          <a:p>
            <a:pPr>
              <a:defRPr sz="2200"/>
            </a:pPr>
            <a:r>
              <a:t>OCI Generative AI</a:t>
            </a:r>
          </a:p>
          <a:p>
            <a:pPr>
              <a:defRPr sz="2200"/>
            </a:pPr>
            <a:r>
              <a:t>AI Vector Search</a:t>
            </a:r>
          </a:p>
          <a:p>
            <a:pPr>
              <a:defRPr sz="2200"/>
            </a:pPr>
            <a:r>
              <a:t>Fusion AI</a:t>
            </a:r>
          </a:p>
          <a:p>
            <a:pPr>
              <a:defRPr sz="2200"/>
            </a:pPr>
            <a:r>
              <a:t>AI Agent Studio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Build a proof of concept</a:t>
            </a:r>
          </a:p>
          <a:p>
            <a:pPr>
              <a:defRPr sz="2200"/>
            </a:pPr>
            <a:r>
              <a:t>Expand data sources</a:t>
            </a:r>
          </a:p>
          <a:p>
            <a:pPr>
              <a:defRPr sz="2200"/>
            </a:pPr>
            <a:r>
              <a:t>Measure business value</a:t>
            </a:r>
          </a:p>
          <a:p>
            <a:pPr>
              <a:defRPr sz="2200"/>
            </a:pPr>
            <a:r>
              <a:t>Continue learning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Architecture</a:t>
            </a:r>
          </a:p>
          <a:p>
            <a:pPr>
              <a:defRPr sz="2200"/>
            </a:pPr>
            <a:r>
              <a:t>AI Agent Server Blueprint</a:t>
            </a:r>
          </a:p>
          <a:p>
            <a:pPr>
              <a:defRPr sz="2200"/>
            </a:pPr>
            <a:r>
              <a:t>Software Inventory</a:t>
            </a:r>
          </a:p>
          <a:p>
            <a:pPr>
              <a:defRPr sz="2200"/>
            </a:pPr>
            <a:r>
              <a:t>SQL Examples</a:t>
            </a:r>
          </a:p>
          <a:p>
            <a:pPr>
              <a:defRPr sz="2200"/>
            </a:pPr>
            <a:r>
              <a:t>Troubleshooting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